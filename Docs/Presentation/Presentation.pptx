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gif" ContentType="image/gif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7559675" cy="10691813"/>
  <p:defaultTextStyle>
    <a:defPPr>
      <a:defRPr lang="pt-BR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340153" d="5505125"/>
          <a:sy n="6553710" d="6357102"/>
        </p:scale>
        <p:origin x="3080252" y="7471187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5839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621598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37310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22058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9805462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825889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464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951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6608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D5A127-0272-87B7-7D6A-1C42C9D36D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434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23830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004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7A48B0-8212-6C1B-2387-B33FA4ED9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268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355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846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26FBE0-325B-49D4-0431-34C99CD7D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731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539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2951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CDFA19-5694-BBD0-C585-3F928FC6D0A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430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738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6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ACF1DE-4F10-6952-B3B2-1741D3503F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518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3051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809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Leitura analógica3A6E-0E42-7935-F163-543AB419EC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4732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0859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78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52AF71-28FF-574C-3506-C83716DD1A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401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456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5370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D07F6-1F0F-44F6-6A79-752930BF60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932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5455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243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E2D0BA-C96A-2E04-628D-0E5EE4E2B5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432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084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9385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4E46E1-500F-40E1-ECF1-6BCB66763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641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9009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1272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678F5-D050-2272-C386-D4573F167F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348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0450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3658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294185-13CE-B839-9948-6FD5C4CC54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875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2231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369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8CD900-2491-0F65-4F2B-913597EE4B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571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9203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77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DC4964-B983-4D4F-10EA-474695A8BF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684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6650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12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40DE8B-7C0E-4C6E-6BF0-D939718754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676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4400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7950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BF2DA7-48C5-6C1E-873D-C616C0B262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4472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9756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4849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9A6E4F-1320-F9D3-9556-0AC40849DB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221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6230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27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BD447-A80F-EC86-0F4C-FDD492CFC3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2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933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81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A0B73-168E-EB60-B13F-F4ECA0DD14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467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9870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74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D1C1FA-DE42-A014-85B0-9968EEFC88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28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839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5952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FF2F-D002-957F-956B-480FDDB2FF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382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55426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826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138E9-2FC4-F58B-9683-91AD82AA66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9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865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3434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74C18-287B-522A-F975-BC1BD19743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5854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96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2951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C1EB3A-4834-D413-751B-71D74E22B4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5521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332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290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D71291-5E96-FC14-5D36-41E03C13104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380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015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91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3C9495-2BAC-AAE3-41E2-142C88A1E3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Slide de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77686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5091267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9605547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6620510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C937DDF-CFDA-41E8-8FBE-93C363A4DAF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193271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994891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8796234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7699658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1702667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192324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343209F-18D4-43BD-8199-BC301289572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exto e Título Vertical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653657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186776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0348711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233142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182916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9E9EFEDE-9B4C-4B68-8699-CC28ED143FF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Conteúd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88590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856540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2575299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4601325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0958082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1766DC1-5AF2-4478-AB49-76A1AA06636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abeçalho da Se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957050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60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48570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8880874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7024402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027937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D16FAF9A-9D66-442A-8302-EFC20A8AB0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as Partes de Conteúd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59448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3527151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86388043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1503227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5122160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6177459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5C694C0-78DC-4E0B-8309-EFC933B0AF1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açã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003672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7706790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8491824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7121505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2400" b="1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6056965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18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0274492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3406054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7379194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07B0EA6-4D94-43EB-BE66-3C3DA9DC78D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mente Títul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839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44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416979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3242034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1106403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8072F54-02C1-46DB-BADE-48782E1CB0A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279280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4074882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4266281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3E5FA6C-27BC-4C2E-B168-177B5A41ED24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údo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002711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8683120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800" b="0" u="none" strike="noStrike">
                <a:solidFill>
                  <a:schemeClr val="dk1"/>
                </a:solidFill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400" b="0" u="none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pt-BR" sz="2000" b="0" u="none" strike="noStrike">
                <a:solidFill>
                  <a:schemeClr val="dk1"/>
                </a:solidFill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2589380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53246266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218760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3350754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B90E632-6D3D-47BD-BC8B-4F00E385DF2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Imagem com Legenda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358167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 Light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3626351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pt-BR" sz="3200" b="0" u="none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0267975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pt-BR" sz="1600" b="0" u="none" strike="noStrike">
                <a:solidFill>
                  <a:schemeClr val="dk1"/>
                </a:solidFill>
                <a:latin typeface="Calibri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0301441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7894907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pt-BR" sz="1400" b="0" u="none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859566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A7D672E-0194-47D7-96D8-C341055EF69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gif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gif"/><Relationship Id="rId5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4608618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336124189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6658965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Departamento de Engenharia Elétrica | Trabalho de Graduação</a:t>
            </a:r>
            <a:endParaRPr/>
          </a:p>
        </p:txBody>
      </p:sp>
      <p:sp>
        <p:nvSpPr>
          <p:cNvPr id="27798886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</a:t>
            </a:r>
            <a:endParaRPr/>
          </a:p>
        </p:txBody>
      </p:sp>
      <p:sp>
        <p:nvSpPr>
          <p:cNvPr id="105614978" name="TextBox 5"/>
          <p:cNvSpPr txBox="1"/>
          <p:nvPr/>
        </p:nvSpPr>
        <p:spPr bwMode="auto">
          <a:xfrm>
            <a:off x="914400" y="2240280"/>
            <a:ext cx="10378440" cy="9601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700" b="1" i="0">
                <a:solidFill>
                  <a:srgbClr val="003769"/>
                </a:solidFill>
                <a:latin typeface="Arial"/>
              </a:rPr>
              <a:t>Desenvolvimento e Análise de um Controlador Eletrônico de Velocidade para Motores Brushless (BLDC)</a:t>
            </a:r>
            <a:endParaRPr/>
          </a:p>
        </p:txBody>
      </p:sp>
      <p:sp>
        <p:nvSpPr>
          <p:cNvPr id="1436431641" name="TextBox 6"/>
          <p:cNvSpPr txBox="1"/>
          <p:nvPr/>
        </p:nvSpPr>
        <p:spPr bwMode="auto">
          <a:xfrm>
            <a:off x="914400" y="3886200"/>
            <a:ext cx="103784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900" b="0" i="0">
                <a:solidFill>
                  <a:srgbClr val="232323"/>
                </a:solidFill>
                <a:latin typeface="Arial"/>
              </a:rPr>
              <a:t>Enzo Luiz Fernandes</a:t>
            </a:r>
            <a:endParaRPr/>
          </a:p>
        </p:txBody>
      </p:sp>
      <p:sp>
        <p:nvSpPr>
          <p:cNvPr id="1533168021" name="TextBox 7"/>
          <p:cNvSpPr txBox="1"/>
          <p:nvPr/>
        </p:nvSpPr>
        <p:spPr bwMode="auto">
          <a:xfrm>
            <a:off x="914400" y="4315968"/>
            <a:ext cx="103784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550" b="0" i="0">
                <a:solidFill>
                  <a:srgbClr val="555555"/>
                </a:solidFill>
                <a:latin typeface="Arial"/>
              </a:rPr>
              <a:t>Orientador: Prof. Dr. Guilherme de Azevedo e Melo</a:t>
            </a:r>
            <a:endParaRPr/>
          </a:p>
        </p:txBody>
      </p:sp>
      <p:sp>
        <p:nvSpPr>
          <p:cNvPr id="1667573602" name="TextBox 8"/>
          <p:cNvSpPr txBox="1"/>
          <p:nvPr/>
        </p:nvSpPr>
        <p:spPr bwMode="auto">
          <a:xfrm>
            <a:off x="914400" y="4892039"/>
            <a:ext cx="1037844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400" b="0" i="0">
                <a:solidFill>
                  <a:srgbClr val="555555"/>
                </a:solidFill>
                <a:latin typeface="Arial"/>
              </a:rPr>
              <a:t>Ilha Solteira,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6986709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826104269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92667805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963183402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</a:t>
            </a:r>
            <a:endParaRPr/>
          </a:p>
        </p:txBody>
      </p:sp>
      <p:sp>
        <p:nvSpPr>
          <p:cNvPr id="959083245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Roteiro da Defesa</a:t>
            </a:r>
            <a:endParaRPr/>
          </a:p>
        </p:txBody>
      </p:sp>
      <p:sp>
        <p:nvSpPr>
          <p:cNvPr id="1088990665" name="Rectangle 6"/>
          <p:cNvSpPr/>
          <p:nvPr/>
        </p:nvSpPr>
        <p:spPr bwMode="auto">
          <a:xfrm>
            <a:off x="475488" y="3300983"/>
            <a:ext cx="257403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1854457" name="Rectangle 7"/>
          <p:cNvSpPr/>
          <p:nvPr/>
        </p:nvSpPr>
        <p:spPr bwMode="auto">
          <a:xfrm>
            <a:off x="475488" y="3300983"/>
            <a:ext cx="73152" cy="123444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3455221" name="TextBox 8"/>
          <p:cNvSpPr txBox="1"/>
          <p:nvPr/>
        </p:nvSpPr>
        <p:spPr bwMode="auto">
          <a:xfrm>
            <a:off x="640080" y="3392423"/>
            <a:ext cx="229971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568C"/>
                </a:solidFill>
                <a:latin typeface="Arial"/>
              </a:rPr>
              <a:t>1. Contexto</a:t>
            </a:r>
            <a:endParaRPr/>
          </a:p>
        </p:txBody>
      </p:sp>
      <p:sp>
        <p:nvSpPr>
          <p:cNvPr id="1114833097" name="TextBox 9"/>
          <p:cNvSpPr txBox="1"/>
          <p:nvPr/>
        </p:nvSpPr>
        <p:spPr bwMode="auto">
          <a:xfrm>
            <a:off x="640080" y="3685031"/>
            <a:ext cx="229971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Motor brushless, controlador e requisitos de potência</a:t>
            </a:r>
            <a:endParaRPr/>
          </a:p>
        </p:txBody>
      </p:sp>
      <p:sp>
        <p:nvSpPr>
          <p:cNvPr id="1543464272" name="TextBox 10"/>
          <p:cNvSpPr txBox="1"/>
          <p:nvPr/>
        </p:nvSpPr>
        <p:spPr bwMode="auto">
          <a:xfrm flipH="0" flipV="0">
            <a:off x="2800028" y="3751028"/>
            <a:ext cx="578679" cy="334348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866664801" name="Rectangle 11"/>
          <p:cNvSpPr/>
          <p:nvPr/>
        </p:nvSpPr>
        <p:spPr bwMode="auto">
          <a:xfrm>
            <a:off x="3214116" y="3300983"/>
            <a:ext cx="257403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5607665" name="Rectangle 12"/>
          <p:cNvSpPr/>
          <p:nvPr/>
        </p:nvSpPr>
        <p:spPr bwMode="auto">
          <a:xfrm>
            <a:off x="3214116" y="3300983"/>
            <a:ext cx="73152" cy="1234440"/>
          </a:xfrm>
          <a:prstGeom prst="rect">
            <a:avLst/>
          </a:prstGeom>
          <a:solidFill>
            <a:srgbClr val="009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7115764" name="TextBox 13"/>
          <p:cNvSpPr txBox="1"/>
          <p:nvPr/>
        </p:nvSpPr>
        <p:spPr bwMode="auto">
          <a:xfrm>
            <a:off x="3378708" y="3392423"/>
            <a:ext cx="229971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9DC6"/>
                </a:solidFill>
                <a:latin typeface="Arial"/>
              </a:rPr>
              <a:t>2. Projeto</a:t>
            </a:r>
            <a:endParaRPr/>
          </a:p>
        </p:txBody>
      </p:sp>
      <p:sp>
        <p:nvSpPr>
          <p:cNvPr id="1739797440" name="TextBox 14"/>
          <p:cNvSpPr txBox="1"/>
          <p:nvPr/>
        </p:nvSpPr>
        <p:spPr bwMode="auto">
          <a:xfrm>
            <a:off x="3378708" y="3685031"/>
            <a:ext cx="229971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Hardware, firmware, sensoriamento e proteções</a:t>
            </a:r>
            <a:endParaRPr/>
          </a:p>
        </p:txBody>
      </p:sp>
      <p:sp>
        <p:nvSpPr>
          <p:cNvPr id="1403015785" name="Rectangle 16"/>
          <p:cNvSpPr/>
          <p:nvPr/>
        </p:nvSpPr>
        <p:spPr bwMode="auto">
          <a:xfrm>
            <a:off x="5952744" y="3300983"/>
            <a:ext cx="257403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4439996" name="Rectangle 17"/>
          <p:cNvSpPr/>
          <p:nvPr/>
        </p:nvSpPr>
        <p:spPr bwMode="auto">
          <a:xfrm>
            <a:off x="5952744" y="3300983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74853208" name="TextBox 18"/>
          <p:cNvSpPr txBox="1"/>
          <p:nvPr/>
        </p:nvSpPr>
        <p:spPr bwMode="auto">
          <a:xfrm>
            <a:off x="6117336" y="3392423"/>
            <a:ext cx="229971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8080"/>
                </a:solidFill>
                <a:latin typeface="Arial"/>
              </a:rPr>
              <a:t>3. Validação</a:t>
            </a:r>
            <a:endParaRPr/>
          </a:p>
        </p:txBody>
      </p:sp>
      <p:sp>
        <p:nvSpPr>
          <p:cNvPr id="18665276" name="TextBox 19"/>
          <p:cNvSpPr txBox="1"/>
          <p:nvPr/>
        </p:nvSpPr>
        <p:spPr bwMode="auto">
          <a:xfrm>
            <a:off x="6117336" y="3685031"/>
            <a:ext cx="229971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Simulação, placa, bancada e diagnóstico</a:t>
            </a:r>
            <a:endParaRPr/>
          </a:p>
        </p:txBody>
      </p:sp>
      <p:sp>
        <p:nvSpPr>
          <p:cNvPr id="2139521549" name="Rectangle 21"/>
          <p:cNvSpPr/>
          <p:nvPr/>
        </p:nvSpPr>
        <p:spPr bwMode="auto">
          <a:xfrm>
            <a:off x="8691372" y="3300983"/>
            <a:ext cx="257403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3241545" name="Rectangle 22"/>
          <p:cNvSpPr/>
          <p:nvPr/>
        </p:nvSpPr>
        <p:spPr bwMode="auto">
          <a:xfrm>
            <a:off x="8691372" y="3300983"/>
            <a:ext cx="73152" cy="123444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70535201" name="TextBox 23"/>
          <p:cNvSpPr txBox="1"/>
          <p:nvPr/>
        </p:nvSpPr>
        <p:spPr bwMode="auto">
          <a:xfrm>
            <a:off x="8855964" y="3392423"/>
            <a:ext cx="229971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25825C"/>
                </a:solidFill>
                <a:latin typeface="Arial"/>
              </a:rPr>
              <a:t>4.</a:t>
            </a:r>
            <a:r>
              <a:rPr lang="pt-BR" sz="1350" b="1" i="0">
                <a:solidFill>
                  <a:srgbClr val="25825C"/>
                </a:solidFill>
                <a:latin typeface="Arial"/>
              </a:rPr>
              <a:t>Conclusão</a:t>
            </a:r>
            <a:endParaRPr/>
          </a:p>
        </p:txBody>
      </p:sp>
      <p:sp>
        <p:nvSpPr>
          <p:cNvPr id="1875245616" name="TextBox 24"/>
          <p:cNvSpPr txBox="1"/>
          <p:nvPr/>
        </p:nvSpPr>
        <p:spPr bwMode="auto">
          <a:xfrm>
            <a:off x="8855964" y="3685031"/>
            <a:ext cx="229971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Contribuições, limitações e próximos passos</a:t>
            </a:r>
            <a:endParaRPr/>
          </a:p>
        </p:txBody>
      </p:sp>
      <p:sp>
        <p:nvSpPr>
          <p:cNvPr id="502664600" name="TextBox 10"/>
          <p:cNvSpPr txBox="1"/>
          <p:nvPr/>
        </p:nvSpPr>
        <p:spPr bwMode="auto">
          <a:xfrm flipH="0" flipV="0">
            <a:off x="5535388" y="373625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921339951" name="TextBox 10"/>
          <p:cNvSpPr txBox="1"/>
          <p:nvPr/>
        </p:nvSpPr>
        <p:spPr bwMode="auto">
          <a:xfrm flipH="0" flipV="0">
            <a:off x="8237440" y="3751028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1655907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694089576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3291218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962751839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3</a:t>
            </a:r>
            <a:endParaRPr/>
          </a:p>
        </p:txBody>
      </p:sp>
      <p:sp>
        <p:nvSpPr>
          <p:cNvPr id="508694646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Motivação</a:t>
            </a:r>
            <a:endParaRPr lang="pt-BR"/>
          </a:p>
        </p:txBody>
      </p:sp>
      <p:sp>
        <p:nvSpPr>
          <p:cNvPr id="555792076" name="Rectangle 9"/>
          <p:cNvSpPr/>
          <p:nvPr/>
        </p:nvSpPr>
        <p:spPr bwMode="auto">
          <a:xfrm>
            <a:off x="5897880" y="2029968"/>
            <a:ext cx="50749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6966285" name="Rectangle 10"/>
          <p:cNvSpPr/>
          <p:nvPr/>
        </p:nvSpPr>
        <p:spPr bwMode="auto">
          <a:xfrm>
            <a:off x="5897880" y="2029968"/>
            <a:ext cx="73152" cy="86868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298588" name="TextBox 11"/>
          <p:cNvSpPr txBox="1"/>
          <p:nvPr/>
        </p:nvSpPr>
        <p:spPr bwMode="auto">
          <a:xfrm>
            <a:off x="6062471" y="2121408"/>
            <a:ext cx="48006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Por que motor brushless?</a:t>
            </a:r>
            <a:endParaRPr/>
          </a:p>
        </p:txBody>
      </p:sp>
      <p:sp>
        <p:nvSpPr>
          <p:cNvPr id="1159589609" name="TextBox 12"/>
          <p:cNvSpPr txBox="1"/>
          <p:nvPr/>
        </p:nvSpPr>
        <p:spPr bwMode="auto">
          <a:xfrm>
            <a:off x="6062471" y="2404872"/>
            <a:ext cx="4800600" cy="448055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1200">
                <a:solidFill>
                  <a:srgbClr val="232323"/>
                </a:solidFill>
                <a:latin typeface="Arial"/>
              </a:rPr>
              <a:t>• Eficiência e densidade de potência</a:t>
            </a:r>
            <a:endParaRPr sz="1200"/>
          </a:p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1200">
                <a:solidFill>
                  <a:srgbClr val="232323"/>
                </a:solidFill>
                <a:latin typeface="Arial"/>
              </a:rPr>
              <a:t>• Menor desgaste mecânico</a:t>
            </a:r>
            <a:endParaRPr sz="1200"/>
          </a:p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1200">
                <a:solidFill>
                  <a:srgbClr val="232323"/>
                </a:solidFill>
                <a:latin typeface="Arial"/>
              </a:rPr>
              <a:t>• Aplicações móveis e embarcadas</a:t>
            </a:r>
            <a:endParaRPr sz="1200"/>
          </a:p>
        </p:txBody>
      </p:sp>
      <p:sp>
        <p:nvSpPr>
          <p:cNvPr id="294895959" name="Rectangle 13"/>
          <p:cNvSpPr/>
          <p:nvPr/>
        </p:nvSpPr>
        <p:spPr bwMode="auto">
          <a:xfrm>
            <a:off x="5897880" y="3108960"/>
            <a:ext cx="507492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3654990" name="Rectangle 14"/>
          <p:cNvSpPr/>
          <p:nvPr/>
        </p:nvSpPr>
        <p:spPr bwMode="auto">
          <a:xfrm>
            <a:off x="5897880" y="3108960"/>
            <a:ext cx="73152" cy="100584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1193447" name="TextBox 15"/>
          <p:cNvSpPr txBox="1"/>
          <p:nvPr/>
        </p:nvSpPr>
        <p:spPr bwMode="auto">
          <a:xfrm>
            <a:off x="6062471" y="3200400"/>
            <a:ext cx="48006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Desafio de Engenharia</a:t>
            </a:r>
            <a:endParaRPr/>
          </a:p>
        </p:txBody>
      </p:sp>
      <p:sp>
        <p:nvSpPr>
          <p:cNvPr id="1035299711" name="TextBox 16"/>
          <p:cNvSpPr txBox="1"/>
          <p:nvPr/>
        </p:nvSpPr>
        <p:spPr bwMode="auto">
          <a:xfrm>
            <a:off x="6062471" y="3483864"/>
            <a:ext cx="4800600" cy="58521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Comutação eletrônica trifásica</a:t>
            </a:r>
            <a:endParaRPr sz="1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Altas correntes e transientes</a:t>
            </a:r>
            <a:endParaRPr sz="1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Controle em tempo real com proteção rápida</a:t>
            </a:r>
            <a:endParaRPr sz="1400"/>
          </a:p>
        </p:txBody>
      </p:sp>
      <p:sp>
        <p:nvSpPr>
          <p:cNvPr id="1846187682" name="Rectangle 17"/>
          <p:cNvSpPr/>
          <p:nvPr/>
        </p:nvSpPr>
        <p:spPr bwMode="auto">
          <a:xfrm>
            <a:off x="5897880" y="4343400"/>
            <a:ext cx="50749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37713221" name="Rectangle 18"/>
          <p:cNvSpPr/>
          <p:nvPr/>
        </p:nvSpPr>
        <p:spPr bwMode="auto">
          <a:xfrm>
            <a:off x="5897880" y="4343400"/>
            <a:ext cx="73152" cy="8686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76375568" name="TextBox 19"/>
          <p:cNvSpPr txBox="1"/>
          <p:nvPr/>
        </p:nvSpPr>
        <p:spPr bwMode="auto">
          <a:xfrm>
            <a:off x="6062471" y="4434840"/>
            <a:ext cx="48006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8080"/>
                </a:solidFill>
                <a:latin typeface="Arial"/>
              </a:rPr>
              <a:t>Pergunta do projeto</a:t>
            </a:r>
            <a:endParaRPr/>
          </a:p>
        </p:txBody>
      </p:sp>
      <p:sp>
        <p:nvSpPr>
          <p:cNvPr id="1851201063" name="TextBox 20"/>
          <p:cNvSpPr txBox="1"/>
          <p:nvPr/>
        </p:nvSpPr>
        <p:spPr bwMode="auto">
          <a:xfrm>
            <a:off x="6062471" y="4727448"/>
            <a:ext cx="480060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0" i="0">
                <a:solidFill>
                  <a:srgbClr val="232323"/>
                </a:solidFill>
                <a:latin typeface="Arial"/>
              </a:rPr>
              <a:t>Como desenvolver uma plataforma de controle aberta, instrumentável e validável em bancada?</a:t>
            </a:r>
            <a:endParaRPr sz="1400"/>
          </a:p>
        </p:txBody>
      </p:sp>
      <p:pic>
        <p:nvPicPr>
          <p:cNvPr id="175187096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545" y="2277637"/>
            <a:ext cx="5551236" cy="29976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0078239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388874737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9221863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494939435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  <a:endParaRPr/>
          </a:p>
        </p:txBody>
      </p:sp>
      <p:sp>
        <p:nvSpPr>
          <p:cNvPr id="995205670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Objetivo e Escopo</a:t>
            </a:r>
            <a:endParaRPr/>
          </a:p>
        </p:txBody>
      </p:sp>
      <p:sp>
        <p:nvSpPr>
          <p:cNvPr id="476973746" name="Rectangle 6"/>
          <p:cNvSpPr/>
          <p:nvPr/>
        </p:nvSpPr>
        <p:spPr bwMode="auto">
          <a:xfrm>
            <a:off x="685800" y="2057400"/>
            <a:ext cx="1065276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9201288" name="Rectangle 7"/>
          <p:cNvSpPr/>
          <p:nvPr/>
        </p:nvSpPr>
        <p:spPr bwMode="auto">
          <a:xfrm>
            <a:off x="685800" y="2057400"/>
            <a:ext cx="73152" cy="96012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46843997" name="TextBox 8"/>
          <p:cNvSpPr txBox="1"/>
          <p:nvPr/>
        </p:nvSpPr>
        <p:spPr bwMode="auto">
          <a:xfrm>
            <a:off x="850392" y="2148840"/>
            <a:ext cx="1037844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Objetivo Geral</a:t>
            </a:r>
            <a:endParaRPr/>
          </a:p>
        </p:txBody>
      </p:sp>
      <p:sp>
        <p:nvSpPr>
          <p:cNvPr id="2068902614" name="TextBox 9"/>
          <p:cNvSpPr txBox="1"/>
          <p:nvPr/>
        </p:nvSpPr>
        <p:spPr bwMode="auto">
          <a:xfrm>
            <a:off x="850392" y="2441448"/>
            <a:ext cx="10378440" cy="521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600" b="0" i="0">
                <a:solidFill>
                  <a:srgbClr val="232323"/>
                </a:solidFill>
                <a:latin typeface="Arial"/>
              </a:rPr>
              <a:t>Estudar o princípio de funcionamento de um controlador de motores brushless e desenvolver um protótipo capaz de oferecer operação suave e precisa.</a:t>
            </a:r>
            <a:endParaRPr/>
          </a:p>
        </p:txBody>
      </p:sp>
      <p:sp>
        <p:nvSpPr>
          <p:cNvPr id="2093319367" name="Rectangle 10"/>
          <p:cNvSpPr/>
          <p:nvPr/>
        </p:nvSpPr>
        <p:spPr bwMode="auto">
          <a:xfrm>
            <a:off x="1897378" y="4270248"/>
            <a:ext cx="2423160" cy="114300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7042798" name="TextBox 11"/>
          <p:cNvSpPr txBox="1"/>
          <p:nvPr/>
        </p:nvSpPr>
        <p:spPr bwMode="auto">
          <a:xfrm>
            <a:off x="1988818" y="4379976"/>
            <a:ext cx="2240279" cy="292608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2200" b="1" i="0">
                <a:solidFill>
                  <a:srgbClr val="00568C"/>
                </a:solidFill>
                <a:latin typeface="Arial"/>
              </a:rPr>
              <a:t>ESC</a:t>
            </a:r>
            <a:endParaRPr/>
          </a:p>
        </p:txBody>
      </p:sp>
      <p:sp>
        <p:nvSpPr>
          <p:cNvPr id="1863986347" name="TextBox 12"/>
          <p:cNvSpPr txBox="1"/>
          <p:nvPr/>
        </p:nvSpPr>
        <p:spPr bwMode="auto">
          <a:xfrm>
            <a:off x="1988818" y="4773168"/>
            <a:ext cx="2240279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Ponte inversora Trifásica com seis passos</a:t>
            </a:r>
            <a:endParaRPr/>
          </a:p>
        </p:txBody>
      </p:sp>
      <p:sp>
        <p:nvSpPr>
          <p:cNvPr id="1225409221" name="Rectangle 13"/>
          <p:cNvSpPr/>
          <p:nvPr/>
        </p:nvSpPr>
        <p:spPr bwMode="auto">
          <a:xfrm>
            <a:off x="4576570" y="4270248"/>
            <a:ext cx="2423160" cy="114300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6160600" name="TextBox 14"/>
          <p:cNvSpPr txBox="1"/>
          <p:nvPr/>
        </p:nvSpPr>
        <p:spPr bwMode="auto">
          <a:xfrm>
            <a:off x="4668010" y="4379976"/>
            <a:ext cx="2240279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008080"/>
                </a:solidFill>
                <a:latin typeface="Arial"/>
              </a:rPr>
              <a:t>ESP32</a:t>
            </a:r>
            <a:endParaRPr/>
          </a:p>
        </p:txBody>
      </p:sp>
      <p:sp>
        <p:nvSpPr>
          <p:cNvPr id="1447074411" name="TextBox 15"/>
          <p:cNvSpPr txBox="1"/>
          <p:nvPr/>
        </p:nvSpPr>
        <p:spPr bwMode="auto">
          <a:xfrm>
            <a:off x="4668010" y="4773168"/>
            <a:ext cx="2240279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pulsos, leituras analógicas e comunicação</a:t>
            </a:r>
            <a:endParaRPr/>
          </a:p>
        </p:txBody>
      </p:sp>
      <p:sp>
        <p:nvSpPr>
          <p:cNvPr id="834975596" name="Rectangle 19"/>
          <p:cNvSpPr/>
          <p:nvPr/>
        </p:nvSpPr>
        <p:spPr bwMode="auto">
          <a:xfrm>
            <a:off x="7216138" y="4270248"/>
            <a:ext cx="2423160" cy="114300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7659593" name="TextBox 20"/>
          <p:cNvSpPr txBox="1"/>
          <p:nvPr/>
        </p:nvSpPr>
        <p:spPr bwMode="auto">
          <a:xfrm>
            <a:off x="7307578" y="4379976"/>
            <a:ext cx="2240279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25825C"/>
                </a:solidFill>
                <a:latin typeface="Arial"/>
              </a:rPr>
              <a:t>Validação</a:t>
            </a:r>
            <a:endParaRPr/>
          </a:p>
        </p:txBody>
      </p:sp>
      <p:sp>
        <p:nvSpPr>
          <p:cNvPr id="163515075" name="TextBox 21"/>
          <p:cNvSpPr txBox="1"/>
          <p:nvPr/>
        </p:nvSpPr>
        <p:spPr bwMode="auto">
          <a:xfrm>
            <a:off x="7307578" y="4773168"/>
            <a:ext cx="2240279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Simulação, placa, firmware e bancada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954257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747808817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58138707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392419180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5</a:t>
            </a:r>
            <a:endParaRPr/>
          </a:p>
        </p:txBody>
      </p:sp>
      <p:sp>
        <p:nvSpPr>
          <p:cNvPr id="1927163066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lang="pt-BR" sz="2400" b="1" i="0" u="none" strike="noStrike" cap="none" spc="0">
                <a:solidFill>
                  <a:srgbClr val="003769"/>
                </a:solidFill>
                <a:latin typeface="Arial"/>
                <a:ea typeface="Arial"/>
                <a:cs typeface="Arial"/>
              </a:rPr>
              <a:t>Comutação em Seis Passos e Modulação</a:t>
            </a:r>
            <a:endParaRPr/>
          </a:p>
        </p:txBody>
      </p:sp>
      <p:sp>
        <p:nvSpPr>
          <p:cNvPr id="1987639417" name="TextBox 8"/>
          <p:cNvSpPr txBox="1"/>
          <p:nvPr/>
        </p:nvSpPr>
        <p:spPr bwMode="auto">
          <a:xfrm>
            <a:off x="981430" y="3831332"/>
            <a:ext cx="52578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Sequência de acionamento trifásico</a:t>
            </a:r>
            <a:endParaRPr/>
          </a:p>
        </p:txBody>
      </p:sp>
      <p:sp>
        <p:nvSpPr>
          <p:cNvPr id="1270175223" name="Rectangle 9"/>
          <p:cNvSpPr/>
          <p:nvPr/>
        </p:nvSpPr>
        <p:spPr bwMode="auto">
          <a:xfrm>
            <a:off x="7272054" y="1997962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7271319" name="Rectangle 10"/>
          <p:cNvSpPr/>
          <p:nvPr/>
        </p:nvSpPr>
        <p:spPr bwMode="auto">
          <a:xfrm>
            <a:off x="7272054" y="1997962"/>
            <a:ext cx="73152" cy="96012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191871" name="TextBox 11"/>
          <p:cNvSpPr txBox="1"/>
          <p:nvPr/>
        </p:nvSpPr>
        <p:spPr bwMode="auto">
          <a:xfrm>
            <a:off x="7436646" y="2089402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Motor Brushless</a:t>
            </a:r>
            <a:endParaRPr/>
          </a:p>
        </p:txBody>
      </p:sp>
      <p:sp>
        <p:nvSpPr>
          <p:cNvPr id="298601735" name="TextBox 12"/>
          <p:cNvSpPr txBox="1"/>
          <p:nvPr/>
        </p:nvSpPr>
        <p:spPr bwMode="auto">
          <a:xfrm>
            <a:off x="7436646" y="2372866"/>
            <a:ext cx="4572000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Rotor com ímãs permanentes</a:t>
            </a:r>
            <a:endParaRPr sz="1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Estator trifásico</a:t>
            </a:r>
            <a:endParaRPr sz="1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Comutação não é mecânica</a:t>
            </a:r>
            <a:endParaRPr sz="1400"/>
          </a:p>
        </p:txBody>
      </p:sp>
      <p:sp>
        <p:nvSpPr>
          <p:cNvPr id="1801480533" name="Rectangle 13"/>
          <p:cNvSpPr/>
          <p:nvPr/>
        </p:nvSpPr>
        <p:spPr bwMode="auto">
          <a:xfrm>
            <a:off x="7272054" y="3186682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0033699" name="Rectangle 14"/>
          <p:cNvSpPr/>
          <p:nvPr/>
        </p:nvSpPr>
        <p:spPr bwMode="auto">
          <a:xfrm>
            <a:off x="7272054" y="3186682"/>
            <a:ext cx="73152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061106" name="TextBox 15"/>
          <p:cNvSpPr txBox="1"/>
          <p:nvPr/>
        </p:nvSpPr>
        <p:spPr bwMode="auto">
          <a:xfrm>
            <a:off x="7436646" y="3278122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8080"/>
                </a:solidFill>
                <a:latin typeface="Arial"/>
              </a:rPr>
              <a:t>Controlador</a:t>
            </a:r>
            <a:endParaRPr/>
          </a:p>
        </p:txBody>
      </p:sp>
      <p:sp>
        <p:nvSpPr>
          <p:cNvPr id="436446859" name="TextBox 16"/>
          <p:cNvSpPr txBox="1"/>
          <p:nvPr/>
        </p:nvSpPr>
        <p:spPr bwMode="auto">
          <a:xfrm>
            <a:off x="7436646" y="3561585"/>
            <a:ext cx="4572000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Escolhe quais fases conduzem</a:t>
            </a:r>
            <a:endParaRPr sz="1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Controla a tensão média por pulsos</a:t>
            </a:r>
            <a:endParaRPr sz="1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Protege semicondutores e bateria</a:t>
            </a:r>
            <a:endParaRPr sz="1400"/>
          </a:p>
        </p:txBody>
      </p:sp>
      <p:pic>
        <p:nvPicPr>
          <p:cNvPr id="388974510" name="Picture 7" descr="acionamento_passo_01_base.png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 flipH="0" flipV="0">
            <a:off x="64357" y="1911319"/>
            <a:ext cx="7091946" cy="1920013"/>
          </a:xfrm>
          <a:prstGeom prst="rect">
            <a:avLst/>
          </a:prstGeom>
        </p:spPr>
      </p:pic>
      <p:pic>
        <p:nvPicPr>
          <p:cNvPr id="633605770" name="Picture 7" descr="acionamento_por_pulsos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72870" y="4101080"/>
            <a:ext cx="5074920" cy="933936"/>
          </a:xfrm>
          <a:prstGeom prst="rect">
            <a:avLst/>
          </a:prstGeom>
        </p:spPr>
      </p:pic>
      <p:sp>
        <p:nvSpPr>
          <p:cNvPr id="2082662954" name="TextBox 8"/>
          <p:cNvSpPr txBox="1"/>
          <p:nvPr/>
        </p:nvSpPr>
        <p:spPr bwMode="auto">
          <a:xfrm>
            <a:off x="1072870" y="5035017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Tensão média proporcional ao ciclo ativo</a:t>
            </a:r>
            <a:endParaRPr/>
          </a:p>
        </p:txBody>
      </p:sp>
      <p:sp>
        <p:nvSpPr>
          <p:cNvPr id="1203618694" name="Rectangle 9"/>
          <p:cNvSpPr/>
          <p:nvPr/>
        </p:nvSpPr>
        <p:spPr bwMode="auto">
          <a:xfrm flipH="0" flipV="0">
            <a:off x="7265955" y="4390364"/>
            <a:ext cx="4852417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4079024" name="Rectangle 10"/>
          <p:cNvSpPr/>
          <p:nvPr/>
        </p:nvSpPr>
        <p:spPr bwMode="auto">
          <a:xfrm>
            <a:off x="7265955" y="4390364"/>
            <a:ext cx="73152" cy="96012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1668878811" name="TextBox 11"/>
          <p:cNvSpPr txBox="1"/>
          <p:nvPr/>
        </p:nvSpPr>
        <p:spPr bwMode="auto">
          <a:xfrm flipH="0" flipV="0">
            <a:off x="7369587" y="4481804"/>
            <a:ext cx="463905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chemeClr val="tx2"/>
                </a:solidFill>
                <a:latin typeface="Arial"/>
              </a:rPr>
              <a:t>Comutação seis passos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28054204" name="TextBox 12"/>
          <p:cNvSpPr txBox="1"/>
          <p:nvPr/>
        </p:nvSpPr>
        <p:spPr bwMode="auto">
          <a:xfrm flipH="0" flipV="0">
            <a:off x="7369587" y="4810988"/>
            <a:ext cx="4639056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lnSpc>
                <a:spcPct val="100000"/>
              </a:lnSpc>
              <a:spcAft>
                <a:spcPts val="299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Dois braços conduzem por passo</a:t>
            </a:r>
            <a:endParaRPr sz="1400"/>
          </a:p>
          <a:p>
            <a:pPr>
              <a:lnSpc>
                <a:spcPct val="100000"/>
              </a:lnSpc>
              <a:spcAft>
                <a:spcPts val="299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Terceira fase fica em alta impedância</a:t>
            </a:r>
            <a:endParaRPr sz="1400"/>
          </a:p>
          <a:p>
            <a:pPr>
              <a:lnSpc>
                <a:spcPct val="100000"/>
              </a:lnSpc>
              <a:spcAft>
                <a:spcPts val="299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Cada troca avança 60° elétricos</a:t>
            </a:r>
            <a:endParaRPr sz="1400"/>
          </a:p>
        </p:txBody>
      </p:sp>
      <p:sp>
        <p:nvSpPr>
          <p:cNvPr id="2096822101" name="Rectangle 17"/>
          <p:cNvSpPr/>
          <p:nvPr/>
        </p:nvSpPr>
        <p:spPr bwMode="auto">
          <a:xfrm flipH="0" flipV="0">
            <a:off x="7272054" y="5561137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8864602" name="Rectangle 18"/>
          <p:cNvSpPr/>
          <p:nvPr/>
        </p:nvSpPr>
        <p:spPr bwMode="auto">
          <a:xfrm>
            <a:off x="7272054" y="5561137"/>
            <a:ext cx="73152" cy="96012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4867370" name="TextBox 19"/>
          <p:cNvSpPr txBox="1"/>
          <p:nvPr/>
        </p:nvSpPr>
        <p:spPr bwMode="auto">
          <a:xfrm>
            <a:off x="7436646" y="5652577"/>
            <a:ext cx="4892038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Trade-Off</a:t>
            </a:r>
            <a:endParaRPr/>
          </a:p>
        </p:txBody>
      </p:sp>
      <p:sp>
        <p:nvSpPr>
          <p:cNvPr id="1775586568" name="TextBox 20"/>
          <p:cNvSpPr txBox="1"/>
          <p:nvPr/>
        </p:nvSpPr>
        <p:spPr bwMode="auto">
          <a:xfrm>
            <a:off x="7436646" y="5936041"/>
            <a:ext cx="4892038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70000" lnSpcReduction="6000"/>
          </a:bodyPr>
          <a:lstStyle/>
          <a:p>
            <a:pPr>
              <a:lnSpc>
                <a:spcPct val="100000"/>
              </a:lnSpc>
              <a:spcAft>
                <a:spcPts val="299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Mais simples que controle vetorial</a:t>
            </a:r>
            <a:endParaRPr sz="1400"/>
          </a:p>
          <a:p>
            <a:pPr>
              <a:lnSpc>
                <a:spcPct val="100000"/>
              </a:lnSpc>
              <a:spcAft>
                <a:spcPts val="299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Mais ondulação de torque</a:t>
            </a:r>
            <a:endParaRPr sz="1400"/>
          </a:p>
          <a:p>
            <a:pPr>
              <a:lnSpc>
                <a:spcPct val="100000"/>
              </a:lnSpc>
              <a:spcAft>
                <a:spcPts val="299"/>
              </a:spcAft>
              <a:defRPr/>
            </a:pPr>
            <a:r>
              <a:rPr sz="1400">
                <a:solidFill>
                  <a:srgbClr val="232323"/>
                </a:solidFill>
                <a:latin typeface="Arial"/>
              </a:rPr>
              <a:t>• Boa escolha para protótipo instrumentável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4313159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780237589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4361721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976738687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6</a:t>
            </a:r>
            <a:endParaRPr/>
          </a:p>
        </p:txBody>
      </p:sp>
      <p:sp>
        <p:nvSpPr>
          <p:cNvPr id="213243686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Arquitetura Geral do Sistema</a:t>
            </a:r>
            <a:endParaRPr/>
          </a:p>
        </p:txBody>
      </p:sp>
      <p:sp>
        <p:nvSpPr>
          <p:cNvPr id="1810867834" name="Rectangle 6"/>
          <p:cNvSpPr/>
          <p:nvPr/>
        </p:nvSpPr>
        <p:spPr bwMode="auto">
          <a:xfrm>
            <a:off x="548640" y="205740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3620296" name="Rectangle 7"/>
          <p:cNvSpPr/>
          <p:nvPr/>
        </p:nvSpPr>
        <p:spPr bwMode="auto">
          <a:xfrm>
            <a:off x="548640" y="2057400"/>
            <a:ext cx="73152" cy="123444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3702485" name="TextBox 8"/>
          <p:cNvSpPr txBox="1"/>
          <p:nvPr/>
        </p:nvSpPr>
        <p:spPr bwMode="auto">
          <a:xfrm>
            <a:off x="713232" y="2148840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568C"/>
                </a:solidFill>
                <a:latin typeface="Arial"/>
              </a:rPr>
              <a:t>Bateria LiPo</a:t>
            </a:r>
            <a:endParaRPr/>
          </a:p>
        </p:txBody>
      </p:sp>
      <p:sp>
        <p:nvSpPr>
          <p:cNvPr id="684404662" name="TextBox 9"/>
          <p:cNvSpPr txBox="1"/>
          <p:nvPr/>
        </p:nvSpPr>
        <p:spPr bwMode="auto">
          <a:xfrm>
            <a:off x="713232" y="244144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6S e alta descarga</a:t>
            </a:r>
            <a:endParaRPr/>
          </a:p>
        </p:txBody>
      </p:sp>
      <p:sp>
        <p:nvSpPr>
          <p:cNvPr id="695360230" name="Rectangle 11"/>
          <p:cNvSpPr/>
          <p:nvPr/>
        </p:nvSpPr>
        <p:spPr bwMode="auto">
          <a:xfrm>
            <a:off x="3344418" y="205740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7027280" name="Rectangle 12"/>
          <p:cNvSpPr/>
          <p:nvPr/>
        </p:nvSpPr>
        <p:spPr bwMode="auto">
          <a:xfrm>
            <a:off x="3344418" y="2057400"/>
            <a:ext cx="73152" cy="1234440"/>
          </a:xfrm>
          <a:prstGeom prst="rect">
            <a:avLst/>
          </a:prstGeom>
          <a:solidFill>
            <a:srgbClr val="009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63642081" name="TextBox 13"/>
          <p:cNvSpPr txBox="1"/>
          <p:nvPr/>
        </p:nvSpPr>
        <p:spPr bwMode="auto">
          <a:xfrm>
            <a:off x="3509010" y="2148840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9DC6"/>
                </a:solidFill>
                <a:latin typeface="Arial"/>
              </a:rPr>
              <a:t>Barramento DC</a:t>
            </a:r>
            <a:endParaRPr/>
          </a:p>
        </p:txBody>
      </p:sp>
      <p:sp>
        <p:nvSpPr>
          <p:cNvPr id="1630717854" name="TextBox 14"/>
          <p:cNvSpPr txBox="1"/>
          <p:nvPr/>
        </p:nvSpPr>
        <p:spPr bwMode="auto">
          <a:xfrm>
            <a:off x="3509010" y="244144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fusível, capacitores de baixa resistência e reguladores</a:t>
            </a:r>
            <a:endParaRPr/>
          </a:p>
        </p:txBody>
      </p:sp>
      <p:sp>
        <p:nvSpPr>
          <p:cNvPr id="1861542955" name="Rectangle 16"/>
          <p:cNvSpPr/>
          <p:nvPr/>
        </p:nvSpPr>
        <p:spPr bwMode="auto">
          <a:xfrm>
            <a:off x="6140196" y="205740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7672438" name="Rectangle 17"/>
          <p:cNvSpPr/>
          <p:nvPr/>
        </p:nvSpPr>
        <p:spPr bwMode="auto">
          <a:xfrm>
            <a:off x="6140196" y="2057400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344922" name="TextBox 18"/>
          <p:cNvSpPr txBox="1"/>
          <p:nvPr/>
        </p:nvSpPr>
        <p:spPr bwMode="auto">
          <a:xfrm>
            <a:off x="6304788" y="2148840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8080"/>
                </a:solidFill>
                <a:latin typeface="Arial"/>
              </a:rPr>
              <a:t>Inversor</a:t>
            </a:r>
            <a:endParaRPr/>
          </a:p>
        </p:txBody>
      </p:sp>
      <p:sp>
        <p:nvSpPr>
          <p:cNvPr id="331938028" name="TextBox 19"/>
          <p:cNvSpPr txBox="1"/>
          <p:nvPr/>
        </p:nvSpPr>
        <p:spPr bwMode="auto">
          <a:xfrm>
            <a:off x="6304788" y="244144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6 transistores </a:t>
            </a:r>
            <a:r>
              <a:rPr lang="pt-BR" sz="1100" b="0" i="0" u="none" strike="noStrike" cap="none" spc="0">
                <a:solidFill>
                  <a:srgbClr val="232323"/>
                </a:solidFill>
                <a:latin typeface="Arial"/>
                <a:ea typeface="Arial"/>
                <a:cs typeface="Arial"/>
              </a:rPr>
              <a:t>MOSFETs</a:t>
            </a:r>
            <a:r>
              <a:rPr sz="1100" b="0" i="0">
                <a:solidFill>
                  <a:srgbClr val="232323"/>
                </a:solidFill>
                <a:latin typeface="Arial"/>
              </a:rPr>
              <a:t> acionados por drivers</a:t>
            </a:r>
            <a:endParaRPr/>
          </a:p>
        </p:txBody>
      </p:sp>
      <p:sp>
        <p:nvSpPr>
          <p:cNvPr id="204553095" name="Rectangle 21"/>
          <p:cNvSpPr/>
          <p:nvPr/>
        </p:nvSpPr>
        <p:spPr bwMode="auto">
          <a:xfrm>
            <a:off x="8935974" y="205740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3231612" name="Rectangle 22"/>
          <p:cNvSpPr/>
          <p:nvPr/>
        </p:nvSpPr>
        <p:spPr bwMode="auto">
          <a:xfrm>
            <a:off x="8935974" y="2057400"/>
            <a:ext cx="73152" cy="123444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062974" name="TextBox 23"/>
          <p:cNvSpPr txBox="1"/>
          <p:nvPr/>
        </p:nvSpPr>
        <p:spPr bwMode="auto">
          <a:xfrm>
            <a:off x="9100566" y="2148840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25825C"/>
                </a:solidFill>
                <a:latin typeface="Arial"/>
              </a:rPr>
              <a:t>Motor brushless</a:t>
            </a:r>
            <a:endParaRPr/>
          </a:p>
        </p:txBody>
      </p:sp>
      <p:sp>
        <p:nvSpPr>
          <p:cNvPr id="1914038938" name="TextBox 24"/>
          <p:cNvSpPr txBox="1"/>
          <p:nvPr/>
        </p:nvSpPr>
        <p:spPr bwMode="auto">
          <a:xfrm>
            <a:off x="9100566" y="244144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carga trifásica e força contraeletromotriz</a:t>
            </a:r>
            <a:endParaRPr/>
          </a:p>
        </p:txBody>
      </p:sp>
      <p:sp>
        <p:nvSpPr>
          <p:cNvPr id="1873280953" name="Rectangle 25"/>
          <p:cNvSpPr/>
          <p:nvPr/>
        </p:nvSpPr>
        <p:spPr bwMode="auto">
          <a:xfrm>
            <a:off x="548640" y="370332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1165106" name="Rectangle 26"/>
          <p:cNvSpPr/>
          <p:nvPr/>
        </p:nvSpPr>
        <p:spPr bwMode="auto">
          <a:xfrm>
            <a:off x="548640" y="3703320"/>
            <a:ext cx="73152" cy="1234440"/>
          </a:xfrm>
          <a:prstGeom prst="rect">
            <a:avLst/>
          </a:prstGeom>
          <a:solidFill>
            <a:srgbClr val="00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8512730" name="TextBox 27"/>
          <p:cNvSpPr txBox="1"/>
          <p:nvPr/>
        </p:nvSpPr>
        <p:spPr bwMode="auto">
          <a:xfrm>
            <a:off x="713232" y="3794759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3769"/>
                </a:solidFill>
                <a:latin typeface="Arial"/>
              </a:rPr>
              <a:t>Microcontrolador</a:t>
            </a:r>
            <a:endParaRPr/>
          </a:p>
        </p:txBody>
      </p:sp>
      <p:sp>
        <p:nvSpPr>
          <p:cNvPr id="1076411272" name="TextBox 28"/>
          <p:cNvSpPr txBox="1"/>
          <p:nvPr/>
        </p:nvSpPr>
        <p:spPr bwMode="auto">
          <a:xfrm>
            <a:off x="713232" y="408736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pulsos, leituras analógicas e temporizadores</a:t>
            </a:r>
            <a:endParaRPr/>
          </a:p>
        </p:txBody>
      </p:sp>
      <p:sp>
        <p:nvSpPr>
          <p:cNvPr id="423925323" name="Rectangle 30"/>
          <p:cNvSpPr/>
          <p:nvPr/>
        </p:nvSpPr>
        <p:spPr bwMode="auto">
          <a:xfrm>
            <a:off x="3344418" y="370332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5332797" name="Rectangle 31"/>
          <p:cNvSpPr/>
          <p:nvPr/>
        </p:nvSpPr>
        <p:spPr bwMode="auto">
          <a:xfrm>
            <a:off x="3344418" y="3721608"/>
            <a:ext cx="73152" cy="12344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44239141" name="TextBox 32"/>
          <p:cNvSpPr txBox="1"/>
          <p:nvPr/>
        </p:nvSpPr>
        <p:spPr bwMode="auto">
          <a:xfrm>
            <a:off x="3509010" y="3794759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8080"/>
                </a:solidFill>
                <a:latin typeface="Arial"/>
              </a:rPr>
              <a:t>Sensores</a:t>
            </a:r>
            <a:endParaRPr/>
          </a:p>
        </p:txBody>
      </p:sp>
      <p:sp>
        <p:nvSpPr>
          <p:cNvPr id="1197853584" name="TextBox 33"/>
          <p:cNvSpPr txBox="1"/>
          <p:nvPr/>
        </p:nvSpPr>
        <p:spPr bwMode="auto">
          <a:xfrm>
            <a:off x="3509010" y="408736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Leitor de corrente e  divisor de tensão</a:t>
            </a:r>
            <a:endParaRPr/>
          </a:p>
        </p:txBody>
      </p:sp>
      <p:sp>
        <p:nvSpPr>
          <p:cNvPr id="556504442" name="Rectangle 35"/>
          <p:cNvSpPr/>
          <p:nvPr/>
        </p:nvSpPr>
        <p:spPr bwMode="auto">
          <a:xfrm>
            <a:off x="6140196" y="370332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0572922" name="Rectangle 36"/>
          <p:cNvSpPr/>
          <p:nvPr/>
        </p:nvSpPr>
        <p:spPr bwMode="auto">
          <a:xfrm>
            <a:off x="6140196" y="3703320"/>
            <a:ext cx="73152" cy="123444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34244568" name="TextBox 37"/>
          <p:cNvSpPr txBox="1"/>
          <p:nvPr/>
        </p:nvSpPr>
        <p:spPr bwMode="auto">
          <a:xfrm>
            <a:off x="6304788" y="3794759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B23939"/>
                </a:solidFill>
                <a:latin typeface="Arial"/>
              </a:rPr>
              <a:t>Proteção</a:t>
            </a:r>
            <a:endParaRPr/>
          </a:p>
        </p:txBody>
      </p:sp>
      <p:sp>
        <p:nvSpPr>
          <p:cNvPr id="467894176" name="TextBox 38"/>
          <p:cNvSpPr txBox="1"/>
          <p:nvPr/>
        </p:nvSpPr>
        <p:spPr bwMode="auto">
          <a:xfrm>
            <a:off x="6304788" y="408736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Sobrecorrente, subtensão e desligamento</a:t>
            </a:r>
            <a:endParaRPr/>
          </a:p>
        </p:txBody>
      </p:sp>
      <p:sp>
        <p:nvSpPr>
          <p:cNvPr id="617197054" name="Rectangle 40"/>
          <p:cNvSpPr/>
          <p:nvPr/>
        </p:nvSpPr>
        <p:spPr bwMode="auto">
          <a:xfrm>
            <a:off x="8935974" y="3703320"/>
            <a:ext cx="263118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79250181" name="Rectangle 41"/>
          <p:cNvSpPr/>
          <p:nvPr/>
        </p:nvSpPr>
        <p:spPr bwMode="auto">
          <a:xfrm>
            <a:off x="8935974" y="3703320"/>
            <a:ext cx="73152" cy="123444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9559862" name="TextBox 42"/>
          <p:cNvSpPr txBox="1"/>
          <p:nvPr/>
        </p:nvSpPr>
        <p:spPr bwMode="auto">
          <a:xfrm>
            <a:off x="9100566" y="3794759"/>
            <a:ext cx="235686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25825C"/>
                </a:solidFill>
                <a:latin typeface="Arial"/>
              </a:rPr>
              <a:t>Interfaces</a:t>
            </a:r>
            <a:endParaRPr/>
          </a:p>
        </p:txBody>
      </p:sp>
      <p:sp>
        <p:nvSpPr>
          <p:cNvPr id="192483458" name="TextBox 43"/>
          <p:cNvSpPr txBox="1"/>
          <p:nvPr/>
        </p:nvSpPr>
        <p:spPr bwMode="auto">
          <a:xfrm>
            <a:off x="9100566" y="4087368"/>
            <a:ext cx="235686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Controle de PS4, interface serial e Wi-Fi</a:t>
            </a:r>
            <a:endParaRPr/>
          </a:p>
        </p:txBody>
      </p:sp>
      <p:sp>
        <p:nvSpPr>
          <p:cNvPr id="413214859" name="TextBox 44"/>
          <p:cNvSpPr txBox="1"/>
          <p:nvPr/>
        </p:nvSpPr>
        <p:spPr bwMode="auto">
          <a:xfrm>
            <a:off x="749808" y="5349240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700" b="0" i="1">
                <a:solidFill>
                  <a:srgbClr val="555555"/>
                </a:solidFill>
                <a:latin typeface="Arial"/>
              </a:rPr>
              <a:t>A separação entre domínio de potência (hardware) e lógico (firmware).</a:t>
            </a:r>
            <a:endParaRPr/>
          </a:p>
        </p:txBody>
      </p:sp>
      <p:sp>
        <p:nvSpPr>
          <p:cNvPr id="665590845" name="TextBox 10"/>
          <p:cNvSpPr txBox="1"/>
          <p:nvPr/>
        </p:nvSpPr>
        <p:spPr bwMode="auto">
          <a:xfrm flipH="0" flipV="0">
            <a:off x="2930331" y="2504864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224253960" name="TextBox 10"/>
          <p:cNvSpPr txBox="1"/>
          <p:nvPr/>
        </p:nvSpPr>
        <p:spPr bwMode="auto">
          <a:xfrm flipH="0" flipV="0">
            <a:off x="5763988" y="2507445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624556224" name="TextBox 10"/>
          <p:cNvSpPr txBox="1"/>
          <p:nvPr/>
        </p:nvSpPr>
        <p:spPr bwMode="auto">
          <a:xfrm flipH="0" flipV="0">
            <a:off x="8521886" y="2507445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713097742" name="TextBox 10"/>
          <p:cNvSpPr txBox="1"/>
          <p:nvPr/>
        </p:nvSpPr>
        <p:spPr bwMode="auto">
          <a:xfrm flipH="0" flipV="0">
            <a:off x="2964619" y="417165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320778628" name="TextBox 10"/>
          <p:cNvSpPr txBox="1"/>
          <p:nvPr/>
        </p:nvSpPr>
        <p:spPr bwMode="auto">
          <a:xfrm flipH="0" flipV="0">
            <a:off x="5763988" y="415078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335488577" name="TextBox 10"/>
          <p:cNvSpPr txBox="1"/>
          <p:nvPr/>
        </p:nvSpPr>
        <p:spPr bwMode="auto">
          <a:xfrm flipH="0" flipV="0">
            <a:off x="8482042" y="417165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1770575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786880386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9519264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320556875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7</a:t>
            </a:r>
            <a:endParaRPr/>
          </a:p>
        </p:txBody>
      </p:sp>
      <p:sp>
        <p:nvSpPr>
          <p:cNvPr id="1223912981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Carga e Fonte de Energia</a:t>
            </a:r>
            <a:endParaRPr/>
          </a:p>
        </p:txBody>
      </p:sp>
      <p:sp>
        <p:nvSpPr>
          <p:cNvPr id="1421466646" name="Rectangle 6"/>
          <p:cNvSpPr/>
          <p:nvPr/>
        </p:nvSpPr>
        <p:spPr bwMode="auto">
          <a:xfrm>
            <a:off x="745015" y="2025395"/>
            <a:ext cx="2807648" cy="207568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06567610" name="Picture 7" descr="Turnigy XK3674-2200KV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7019" y="2057400"/>
            <a:ext cx="2743640" cy="2011680"/>
          </a:xfrm>
          <a:prstGeom prst="rect">
            <a:avLst/>
          </a:prstGeom>
        </p:spPr>
      </p:pic>
      <p:sp>
        <p:nvSpPr>
          <p:cNvPr id="1790512833" name="TextBox 8"/>
          <p:cNvSpPr txBox="1"/>
          <p:nvPr/>
        </p:nvSpPr>
        <p:spPr bwMode="auto">
          <a:xfrm>
            <a:off x="640080" y="4096512"/>
            <a:ext cx="30175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Motor alvo: XK3674 2200 kV</a:t>
            </a:r>
            <a:endParaRPr/>
          </a:p>
        </p:txBody>
      </p:sp>
      <p:sp>
        <p:nvSpPr>
          <p:cNvPr id="517980369" name="Rectangle 9"/>
          <p:cNvSpPr/>
          <p:nvPr/>
        </p:nvSpPr>
        <p:spPr bwMode="auto">
          <a:xfrm>
            <a:off x="3899694" y="2025395"/>
            <a:ext cx="2807648" cy="207568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68606625" name="Picture 10" descr="Turnigy Graphene Panther 1300mAh 6S 75C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3931699" y="2057400"/>
            <a:ext cx="2743640" cy="2011680"/>
          </a:xfrm>
          <a:prstGeom prst="rect">
            <a:avLst/>
          </a:prstGeom>
        </p:spPr>
      </p:pic>
      <p:sp>
        <p:nvSpPr>
          <p:cNvPr id="843891112" name="TextBox 11"/>
          <p:cNvSpPr txBox="1"/>
          <p:nvPr/>
        </p:nvSpPr>
        <p:spPr bwMode="auto">
          <a:xfrm>
            <a:off x="3794760" y="4096512"/>
            <a:ext cx="30175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Fonte móvel: LiPo 6S 75C</a:t>
            </a:r>
            <a:endParaRPr/>
          </a:p>
        </p:txBody>
      </p:sp>
      <p:sp>
        <p:nvSpPr>
          <p:cNvPr id="1578280703" name="Rectangle 12"/>
          <p:cNvSpPr/>
          <p:nvPr/>
        </p:nvSpPr>
        <p:spPr bwMode="auto">
          <a:xfrm>
            <a:off x="7132320" y="2084831"/>
            <a:ext cx="1234440" cy="96012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6637309" name="TextBox 13"/>
          <p:cNvSpPr txBox="1"/>
          <p:nvPr/>
        </p:nvSpPr>
        <p:spPr bwMode="auto">
          <a:xfrm>
            <a:off x="7223759" y="2194560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00568C"/>
                </a:solidFill>
                <a:latin typeface="Arial"/>
              </a:rPr>
              <a:t>22,2 V</a:t>
            </a:r>
            <a:endParaRPr/>
          </a:p>
        </p:txBody>
      </p:sp>
      <p:sp>
        <p:nvSpPr>
          <p:cNvPr id="1699449436" name="TextBox 14"/>
          <p:cNvSpPr txBox="1"/>
          <p:nvPr/>
        </p:nvSpPr>
        <p:spPr bwMode="auto">
          <a:xfrm>
            <a:off x="7223759" y="2587752"/>
            <a:ext cx="10515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bateria 6S carregada</a:t>
            </a:r>
            <a:endParaRPr/>
          </a:p>
        </p:txBody>
      </p:sp>
      <p:sp>
        <p:nvSpPr>
          <p:cNvPr id="2030177726" name="Rectangle 15"/>
          <p:cNvSpPr/>
          <p:nvPr/>
        </p:nvSpPr>
        <p:spPr bwMode="auto">
          <a:xfrm>
            <a:off x="8503920" y="2084831"/>
            <a:ext cx="1234440" cy="96012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85610167" name="TextBox 16"/>
          <p:cNvSpPr txBox="1"/>
          <p:nvPr/>
        </p:nvSpPr>
        <p:spPr bwMode="auto">
          <a:xfrm>
            <a:off x="8595360" y="2194560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C47020"/>
                </a:solidFill>
                <a:latin typeface="Arial"/>
              </a:rPr>
              <a:t>70 A</a:t>
            </a:r>
            <a:endParaRPr/>
          </a:p>
        </p:txBody>
      </p:sp>
      <p:sp>
        <p:nvSpPr>
          <p:cNvPr id="685889994" name="TextBox 17"/>
          <p:cNvSpPr txBox="1"/>
          <p:nvPr/>
        </p:nvSpPr>
        <p:spPr bwMode="auto">
          <a:xfrm>
            <a:off x="8595360" y="2587752"/>
            <a:ext cx="10515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50" b="0" i="0">
                <a:solidFill>
                  <a:srgbClr val="232323"/>
                </a:solidFill>
                <a:latin typeface="Arial"/>
              </a:rPr>
              <a:t>corrente nominal do motor</a:t>
            </a:r>
            <a:endParaRPr/>
          </a:p>
        </p:txBody>
      </p:sp>
      <p:sp>
        <p:nvSpPr>
          <p:cNvPr id="1949089153" name="Rectangle 18"/>
          <p:cNvSpPr/>
          <p:nvPr/>
        </p:nvSpPr>
        <p:spPr bwMode="auto">
          <a:xfrm>
            <a:off x="9875520" y="2084831"/>
            <a:ext cx="1234440" cy="96012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604486" name="TextBox 19"/>
          <p:cNvSpPr txBox="1"/>
          <p:nvPr/>
        </p:nvSpPr>
        <p:spPr bwMode="auto">
          <a:xfrm>
            <a:off x="9966960" y="2194560"/>
            <a:ext cx="105156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B23939"/>
                </a:solidFill>
                <a:latin typeface="Arial"/>
              </a:rPr>
              <a:t>91 A</a:t>
            </a:r>
            <a:endParaRPr/>
          </a:p>
        </p:txBody>
      </p:sp>
      <p:sp>
        <p:nvSpPr>
          <p:cNvPr id="1172356765" name="TextBox 20"/>
          <p:cNvSpPr txBox="1"/>
          <p:nvPr/>
        </p:nvSpPr>
        <p:spPr bwMode="auto">
          <a:xfrm>
            <a:off x="9966960" y="2587752"/>
            <a:ext cx="1051560" cy="3931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pico com margem de 30%</a:t>
            </a:r>
            <a:endParaRPr/>
          </a:p>
        </p:txBody>
      </p:sp>
      <p:sp>
        <p:nvSpPr>
          <p:cNvPr id="662122621" name="Rectangle 21"/>
          <p:cNvSpPr/>
          <p:nvPr/>
        </p:nvSpPr>
        <p:spPr bwMode="auto">
          <a:xfrm>
            <a:off x="777240" y="4663440"/>
            <a:ext cx="1042416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8524676" name="Rectangle 22"/>
          <p:cNvSpPr/>
          <p:nvPr/>
        </p:nvSpPr>
        <p:spPr bwMode="auto">
          <a:xfrm>
            <a:off x="777240" y="4663440"/>
            <a:ext cx="73152" cy="73152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52333199" name="TextBox 23"/>
          <p:cNvSpPr txBox="1"/>
          <p:nvPr/>
        </p:nvSpPr>
        <p:spPr bwMode="auto">
          <a:xfrm>
            <a:off x="941832" y="4754879"/>
            <a:ext cx="1014984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B23939"/>
                </a:solidFill>
                <a:latin typeface="Arial"/>
              </a:rPr>
              <a:t>Implicação direta</a:t>
            </a:r>
            <a:endParaRPr/>
          </a:p>
        </p:txBody>
      </p:sp>
      <p:sp>
        <p:nvSpPr>
          <p:cNvPr id="2110462530" name="TextBox 24"/>
          <p:cNvSpPr txBox="1"/>
          <p:nvPr/>
        </p:nvSpPr>
        <p:spPr bwMode="auto">
          <a:xfrm>
            <a:off x="941832" y="5047488"/>
            <a:ext cx="10149840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O controlador precisa suportar alta corrente, transientes severos e proteção mais rápida que qualquer decisão de software de alto nível.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0905385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063459354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8019970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65312731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13</a:t>
            </a:r>
            <a:endParaRPr/>
          </a:p>
        </p:txBody>
      </p:sp>
      <p:sp>
        <p:nvSpPr>
          <p:cNvPr id="1488721880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Validação Computacional</a:t>
            </a:r>
            <a:endParaRPr/>
          </a:p>
        </p:txBody>
      </p:sp>
      <p:pic>
        <p:nvPicPr>
          <p:cNvPr id="1058792987" name="Picture 7" descr="trifasico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0" y="2111975"/>
            <a:ext cx="8480871" cy="3272361"/>
          </a:xfrm>
          <a:prstGeom prst="rect">
            <a:avLst/>
          </a:prstGeom>
        </p:spPr>
      </p:pic>
      <p:sp>
        <p:nvSpPr>
          <p:cNvPr id="1760181482" name="Rectangle 9"/>
          <p:cNvSpPr/>
          <p:nvPr/>
        </p:nvSpPr>
        <p:spPr bwMode="auto">
          <a:xfrm flipH="0" flipV="0">
            <a:off x="3928768" y="1997963"/>
            <a:ext cx="4145979" cy="7772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2385449" name="Rectangle 10"/>
          <p:cNvSpPr/>
          <p:nvPr/>
        </p:nvSpPr>
        <p:spPr bwMode="auto">
          <a:xfrm>
            <a:off x="3928768" y="1997963"/>
            <a:ext cx="73152" cy="77724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5662156" name="TextBox 11"/>
          <p:cNvSpPr txBox="1"/>
          <p:nvPr/>
        </p:nvSpPr>
        <p:spPr bwMode="auto">
          <a:xfrm>
            <a:off x="4001920" y="2043683"/>
            <a:ext cx="425196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Cenário</a:t>
            </a:r>
            <a:endParaRPr/>
          </a:p>
        </p:txBody>
      </p:sp>
      <p:sp>
        <p:nvSpPr>
          <p:cNvPr id="447851874" name="TextBox 12"/>
          <p:cNvSpPr txBox="1"/>
          <p:nvPr/>
        </p:nvSpPr>
        <p:spPr bwMode="auto">
          <a:xfrm>
            <a:off x="4001920" y="2336290"/>
            <a:ext cx="425196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250" b="0" i="0">
                <a:solidFill>
                  <a:srgbClr val="232323"/>
                </a:solidFill>
                <a:latin typeface="Arial"/>
              </a:rPr>
              <a:t>Ponte trifásica com motor modelado por R-L em estrela.</a:t>
            </a:r>
            <a:endParaRPr/>
          </a:p>
        </p:txBody>
      </p:sp>
      <p:sp>
        <p:nvSpPr>
          <p:cNvPr id="765155497" name="Rectangle 13"/>
          <p:cNvSpPr/>
          <p:nvPr/>
        </p:nvSpPr>
        <p:spPr bwMode="auto">
          <a:xfrm flipH="0" flipV="0">
            <a:off x="7571766" y="4488818"/>
            <a:ext cx="4260506" cy="7772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658354" name="Rectangle 14"/>
          <p:cNvSpPr/>
          <p:nvPr/>
        </p:nvSpPr>
        <p:spPr bwMode="auto">
          <a:xfrm>
            <a:off x="7498614" y="4493389"/>
            <a:ext cx="73152" cy="77724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08384607" name="TextBox 15"/>
          <p:cNvSpPr txBox="1"/>
          <p:nvPr/>
        </p:nvSpPr>
        <p:spPr bwMode="auto">
          <a:xfrm>
            <a:off x="7736358" y="4580258"/>
            <a:ext cx="425196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Condição Severa</a:t>
            </a:r>
            <a:endParaRPr/>
          </a:p>
        </p:txBody>
      </p:sp>
      <p:sp>
        <p:nvSpPr>
          <p:cNvPr id="1425782534" name="TextBox 16"/>
          <p:cNvSpPr txBox="1"/>
          <p:nvPr/>
        </p:nvSpPr>
        <p:spPr bwMode="auto">
          <a:xfrm>
            <a:off x="7736358" y="4872866"/>
            <a:ext cx="425196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250" b="0" i="0">
                <a:solidFill>
                  <a:srgbClr val="232323"/>
                </a:solidFill>
                <a:latin typeface="Arial"/>
              </a:rPr>
              <a:t>Rotor bloqueado: sem força contraeletromotriz, maior estresse de corrente.</a:t>
            </a:r>
            <a:endParaRPr/>
          </a:p>
        </p:txBody>
      </p:sp>
      <p:sp>
        <p:nvSpPr>
          <p:cNvPr id="1762338881" name="Rectangle 17"/>
          <p:cNvSpPr/>
          <p:nvPr/>
        </p:nvSpPr>
        <p:spPr bwMode="auto">
          <a:xfrm flipH="0" flipV="0">
            <a:off x="3938776" y="5623739"/>
            <a:ext cx="4315103" cy="7772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5482344" name="Rectangle 18"/>
          <p:cNvSpPr/>
          <p:nvPr/>
        </p:nvSpPr>
        <p:spPr bwMode="auto">
          <a:xfrm>
            <a:off x="3938776" y="5623739"/>
            <a:ext cx="73152" cy="7772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0433276" name="TextBox 19"/>
          <p:cNvSpPr txBox="1"/>
          <p:nvPr/>
        </p:nvSpPr>
        <p:spPr bwMode="auto">
          <a:xfrm>
            <a:off x="4103368" y="5715179"/>
            <a:ext cx="425196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8080"/>
                </a:solidFill>
                <a:latin typeface="Arial"/>
              </a:rPr>
              <a:t>Uso no Projeto</a:t>
            </a:r>
            <a:endParaRPr/>
          </a:p>
        </p:txBody>
      </p:sp>
      <p:sp>
        <p:nvSpPr>
          <p:cNvPr id="1918439637" name="TextBox 20"/>
          <p:cNvSpPr txBox="1"/>
          <p:nvPr/>
        </p:nvSpPr>
        <p:spPr bwMode="auto">
          <a:xfrm>
            <a:off x="4103368" y="6007787"/>
            <a:ext cx="4251960" cy="3383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250" b="0" i="0">
                <a:solidFill>
                  <a:srgbClr val="232323"/>
                </a:solidFill>
                <a:latin typeface="Arial"/>
              </a:rPr>
              <a:t>Validar corrente, fase em alta impedância, barramento e necessidade do barramento DC.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313190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47208042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6274749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206447230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14</a:t>
            </a:r>
            <a:endParaRPr/>
          </a:p>
        </p:txBody>
      </p:sp>
      <p:sp>
        <p:nvSpPr>
          <p:cNvPr id="1338502905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Resultados de Simulação: Fases</a:t>
            </a:r>
            <a:endParaRPr/>
          </a:p>
        </p:txBody>
      </p:sp>
      <p:sp>
        <p:nvSpPr>
          <p:cNvPr id="94088058" name="Rectangle 6"/>
          <p:cNvSpPr/>
          <p:nvPr/>
        </p:nvSpPr>
        <p:spPr bwMode="auto">
          <a:xfrm>
            <a:off x="653796" y="2075622"/>
            <a:ext cx="5138928" cy="2898779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61298898" name="Picture 7" descr="1_correntes_moto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5800" y="2107626"/>
            <a:ext cx="5074920" cy="2834771"/>
          </a:xfrm>
          <a:prstGeom prst="rect">
            <a:avLst/>
          </a:prstGeom>
        </p:spPr>
      </p:pic>
      <p:sp>
        <p:nvSpPr>
          <p:cNvPr id="1043228265" name="TextBox 8"/>
          <p:cNvSpPr txBox="1"/>
          <p:nvPr/>
        </p:nvSpPr>
        <p:spPr bwMode="auto">
          <a:xfrm>
            <a:off x="685800" y="5084064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Correntes de fase no passo 1</a:t>
            </a:r>
            <a:endParaRPr/>
          </a:p>
        </p:txBody>
      </p:sp>
      <p:sp>
        <p:nvSpPr>
          <p:cNvPr id="1177715591" name="Rectangle 9"/>
          <p:cNvSpPr/>
          <p:nvPr/>
        </p:nvSpPr>
        <p:spPr bwMode="auto">
          <a:xfrm>
            <a:off x="6048755" y="2074944"/>
            <a:ext cx="5138928" cy="2900135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67429730" name="Picture 10" descr="3_tensoes_fase_neutro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080760" y="2106948"/>
            <a:ext cx="5074920" cy="2836127"/>
          </a:xfrm>
          <a:prstGeom prst="rect">
            <a:avLst/>
          </a:prstGeom>
        </p:spPr>
      </p:pic>
      <p:sp>
        <p:nvSpPr>
          <p:cNvPr id="1220797038" name="TextBox 11"/>
          <p:cNvSpPr txBox="1"/>
          <p:nvPr/>
        </p:nvSpPr>
        <p:spPr bwMode="auto">
          <a:xfrm>
            <a:off x="6080760" y="5084064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Tensões fase-neutro</a:t>
            </a:r>
            <a:endParaRPr/>
          </a:p>
        </p:txBody>
      </p:sp>
      <p:sp>
        <p:nvSpPr>
          <p:cNvPr id="342059621" name="TextBox 12"/>
          <p:cNvSpPr txBox="1"/>
          <p:nvPr/>
        </p:nvSpPr>
        <p:spPr bwMode="auto">
          <a:xfrm>
            <a:off x="868680" y="5349240"/>
            <a:ext cx="10241280" cy="502920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100">
                <a:solidFill>
                  <a:srgbClr val="232323"/>
                </a:solidFill>
                <a:latin typeface="Arial"/>
              </a:rPr>
              <a:t>• IA e IB aparecem com mesma magnitude e sinais opostos.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100">
                <a:solidFill>
                  <a:srgbClr val="232323"/>
                </a:solidFill>
                <a:latin typeface="Arial"/>
              </a:rPr>
              <a:t>• IC permanece em alta impedância, condição necessária para leitura futura da força contraeletromotriz.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100">
                <a:solidFill>
                  <a:srgbClr val="232323"/>
                </a:solidFill>
                <a:latin typeface="Arial"/>
              </a:rPr>
              <a:t>• O período de 50 µs confirma o chaveamento em 20 kHz.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521721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378014351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8172303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623299816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15</a:t>
            </a:r>
            <a:endParaRPr/>
          </a:p>
        </p:txBody>
      </p:sp>
      <p:sp>
        <p:nvSpPr>
          <p:cNvPr id="1046652992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Transientes no Barramento DC</a:t>
            </a:r>
            <a:endParaRPr/>
          </a:p>
        </p:txBody>
      </p:sp>
      <p:sp>
        <p:nvSpPr>
          <p:cNvPr id="507028835" name="Rectangle 6"/>
          <p:cNvSpPr/>
          <p:nvPr/>
        </p:nvSpPr>
        <p:spPr bwMode="auto">
          <a:xfrm>
            <a:off x="653796" y="2051992"/>
            <a:ext cx="5138928" cy="2845454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23128220" name="Picture 7" descr="7c_bateria_tensao_transientes.png"/>
          <p:cNvPicPr>
            <a:picLocks noChangeAspect="1"/>
          </p:cNvPicPr>
          <p:nvPr/>
        </p:nvPicPr>
        <p:blipFill rotWithShape="1">
          <a:blip r:embed="rId4"/>
        </p:blipFill>
        <p:spPr bwMode="auto">
          <a:xfrm>
            <a:off x="685800" y="2083996"/>
            <a:ext cx="5074920" cy="2781446"/>
          </a:xfrm>
          <a:prstGeom prst="rect">
            <a:avLst/>
          </a:prstGeom>
        </p:spPr>
      </p:pic>
      <p:sp>
        <p:nvSpPr>
          <p:cNvPr id="592179321" name="TextBox 8"/>
          <p:cNvSpPr txBox="1"/>
          <p:nvPr/>
        </p:nvSpPr>
        <p:spPr bwMode="auto">
          <a:xfrm>
            <a:off x="685800" y="5010912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Quedas instantâneas de tensão</a:t>
            </a:r>
            <a:endParaRPr/>
          </a:p>
        </p:txBody>
      </p:sp>
      <p:sp>
        <p:nvSpPr>
          <p:cNvPr id="479629420" name="Rectangle 9"/>
          <p:cNvSpPr/>
          <p:nvPr/>
        </p:nvSpPr>
        <p:spPr bwMode="auto">
          <a:xfrm>
            <a:off x="6048755" y="2043020"/>
            <a:ext cx="5138928" cy="2863399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5442280" name="Picture 10" descr="7d_bateria_corrente_transientes.png"/>
          <p:cNvPicPr>
            <a:picLocks noChangeAspect="1"/>
          </p:cNvPicPr>
          <p:nvPr/>
        </p:nvPicPr>
        <p:blipFill rotWithShape="1">
          <a:blip r:embed="rId5"/>
        </p:blipFill>
        <p:spPr bwMode="auto">
          <a:xfrm>
            <a:off x="6080760" y="2075024"/>
            <a:ext cx="5074920" cy="2799391"/>
          </a:xfrm>
          <a:prstGeom prst="rect">
            <a:avLst/>
          </a:prstGeom>
        </p:spPr>
      </p:pic>
      <p:sp>
        <p:nvSpPr>
          <p:cNvPr id="1692942409" name="TextBox 11"/>
          <p:cNvSpPr txBox="1"/>
          <p:nvPr/>
        </p:nvSpPr>
        <p:spPr bwMode="auto">
          <a:xfrm>
            <a:off x="6080760" y="5010912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Picos transientes de corrente</a:t>
            </a:r>
            <a:endParaRPr/>
          </a:p>
        </p:txBody>
      </p:sp>
      <p:sp>
        <p:nvSpPr>
          <p:cNvPr id="942730994" name="Rectangle 12"/>
          <p:cNvSpPr/>
          <p:nvPr/>
        </p:nvSpPr>
        <p:spPr bwMode="auto">
          <a:xfrm>
            <a:off x="960120" y="5257800"/>
            <a:ext cx="1001268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9596980" name="Rectangle 13"/>
          <p:cNvSpPr/>
          <p:nvPr/>
        </p:nvSpPr>
        <p:spPr bwMode="auto">
          <a:xfrm>
            <a:off x="960120" y="5257800"/>
            <a:ext cx="73152" cy="566928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3684208" name="TextBox 14"/>
          <p:cNvSpPr txBox="1"/>
          <p:nvPr/>
        </p:nvSpPr>
        <p:spPr bwMode="auto">
          <a:xfrm>
            <a:off x="1124712" y="5349240"/>
            <a:ext cx="9738359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Interpretação</a:t>
            </a:r>
            <a:endParaRPr/>
          </a:p>
        </p:txBody>
      </p:sp>
      <p:sp>
        <p:nvSpPr>
          <p:cNvPr id="472178297" name="TextBox 15"/>
          <p:cNvSpPr txBox="1"/>
          <p:nvPr/>
        </p:nvSpPr>
        <p:spPr bwMode="auto">
          <a:xfrm flipH="0" flipV="0">
            <a:off x="1097279" y="5586983"/>
            <a:ext cx="9738358" cy="237744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 fontScale="85000" lnSpcReduction="3000"/>
          </a:bodyPr>
          <a:lstStyle/>
          <a:p>
            <a:pPr algn="l">
              <a:defRPr/>
            </a:pPr>
            <a:r>
              <a:rPr sz="1200" b="0" i="0">
                <a:solidFill>
                  <a:srgbClr val="232323"/>
                </a:solidFill>
                <a:latin typeface="Arial"/>
              </a:rPr>
              <a:t>A simulação reforça a necessidade de capacitores de baixa resistência próximos aos transistores de potência para reduzir ondulação, aquecimento e estresse da fonte.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5584584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2015194341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793938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721476179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8</a:t>
            </a:r>
            <a:endParaRPr/>
          </a:p>
        </p:txBody>
      </p:sp>
      <p:sp>
        <p:nvSpPr>
          <p:cNvPr id="1420230211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Estágio de Potência</a:t>
            </a:r>
            <a:endParaRPr/>
          </a:p>
        </p:txBody>
      </p:sp>
      <p:sp>
        <p:nvSpPr>
          <p:cNvPr id="149406178" name="Rectangle 6"/>
          <p:cNvSpPr/>
          <p:nvPr/>
        </p:nvSpPr>
        <p:spPr bwMode="auto">
          <a:xfrm flipH="0" flipV="0">
            <a:off x="970447" y="1906524"/>
            <a:ext cx="5394805" cy="3618217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58250383" name="Picture 7" descr="esquematico_powe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02451" y="1938528"/>
            <a:ext cx="5312305" cy="3535717"/>
          </a:xfrm>
          <a:prstGeom prst="rect">
            <a:avLst/>
          </a:prstGeom>
        </p:spPr>
      </p:pic>
      <p:sp>
        <p:nvSpPr>
          <p:cNvPr id="1258748988" name="TextBox 8"/>
          <p:cNvSpPr txBox="1"/>
          <p:nvPr/>
        </p:nvSpPr>
        <p:spPr bwMode="auto">
          <a:xfrm flipH="0" flipV="0">
            <a:off x="502920" y="5524741"/>
            <a:ext cx="6600005" cy="259285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Ponte inversora trifásica</a:t>
            </a:r>
            <a:endParaRPr/>
          </a:p>
        </p:txBody>
      </p:sp>
      <p:sp>
        <p:nvSpPr>
          <p:cNvPr id="2096416763" name="Rectangle 9"/>
          <p:cNvSpPr/>
          <p:nvPr/>
        </p:nvSpPr>
        <p:spPr bwMode="auto">
          <a:xfrm>
            <a:off x="7537773" y="1906524"/>
            <a:ext cx="1795133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2180474" name="Picture 10" descr="ir2110_schematic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569776" y="1938527"/>
            <a:ext cx="2771164" cy="3586213"/>
          </a:xfrm>
          <a:prstGeom prst="rect">
            <a:avLst/>
          </a:prstGeom>
        </p:spPr>
      </p:pic>
      <p:sp>
        <p:nvSpPr>
          <p:cNvPr id="1857994732" name="TextBox 11"/>
          <p:cNvSpPr txBox="1"/>
          <p:nvPr/>
        </p:nvSpPr>
        <p:spPr bwMode="auto">
          <a:xfrm>
            <a:off x="6417898" y="5553800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Acionadores e alimentação bootstrap</a:t>
            </a:r>
            <a:r>
              <a:rPr/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521925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0767005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8388851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733050043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9</a:t>
            </a:r>
            <a:endParaRPr/>
          </a:p>
        </p:txBody>
      </p:sp>
      <p:sp>
        <p:nvSpPr>
          <p:cNvPr id="321740871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Sensoriamento e Proteções</a:t>
            </a:r>
            <a:endParaRPr/>
          </a:p>
        </p:txBody>
      </p:sp>
      <p:sp>
        <p:nvSpPr>
          <p:cNvPr id="1581388835" name="Rectangle 6"/>
          <p:cNvSpPr/>
          <p:nvPr/>
        </p:nvSpPr>
        <p:spPr bwMode="auto">
          <a:xfrm>
            <a:off x="840147" y="1888236"/>
            <a:ext cx="2754544" cy="198424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90962075" name="Picture 7" descr="current_sens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72151" y="1920240"/>
            <a:ext cx="2690536" cy="1920240"/>
          </a:xfrm>
          <a:prstGeom prst="rect">
            <a:avLst/>
          </a:prstGeom>
        </p:spPr>
      </p:pic>
      <p:sp>
        <p:nvSpPr>
          <p:cNvPr id="352067321" name="TextBox 8"/>
          <p:cNvSpPr txBox="1"/>
          <p:nvPr/>
        </p:nvSpPr>
        <p:spPr bwMode="auto">
          <a:xfrm>
            <a:off x="594360" y="3867911"/>
            <a:ext cx="3246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INA240 + shunt</a:t>
            </a:r>
            <a:endParaRPr/>
          </a:p>
        </p:txBody>
      </p:sp>
      <p:sp>
        <p:nvSpPr>
          <p:cNvPr id="1843080286" name="Rectangle 9"/>
          <p:cNvSpPr/>
          <p:nvPr/>
        </p:nvSpPr>
        <p:spPr bwMode="auto">
          <a:xfrm>
            <a:off x="5021614" y="1888236"/>
            <a:ext cx="1889690" cy="198424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61619594" name="Picture 10" descr="comparador_sobrecorrent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53618" y="1920240"/>
            <a:ext cx="1825682" cy="1920240"/>
          </a:xfrm>
          <a:prstGeom prst="rect">
            <a:avLst/>
          </a:prstGeom>
        </p:spPr>
      </p:pic>
      <p:sp>
        <p:nvSpPr>
          <p:cNvPr id="1327548502" name="TextBox 11"/>
          <p:cNvSpPr txBox="1"/>
          <p:nvPr/>
        </p:nvSpPr>
        <p:spPr bwMode="auto">
          <a:xfrm>
            <a:off x="4343400" y="3867911"/>
            <a:ext cx="3246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Comparador LM339</a:t>
            </a:r>
            <a:endParaRPr/>
          </a:p>
        </p:txBody>
      </p:sp>
      <p:sp>
        <p:nvSpPr>
          <p:cNvPr id="2095287023" name="Rectangle 12"/>
          <p:cNvSpPr/>
          <p:nvPr/>
        </p:nvSpPr>
        <p:spPr bwMode="auto">
          <a:xfrm>
            <a:off x="8832711" y="1888236"/>
            <a:ext cx="1536976" cy="198424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62800606" name="Picture 13" descr="voltage_sens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864715" y="1920240"/>
            <a:ext cx="1472968" cy="1920240"/>
          </a:xfrm>
          <a:prstGeom prst="rect">
            <a:avLst/>
          </a:prstGeom>
        </p:spPr>
      </p:pic>
      <p:sp>
        <p:nvSpPr>
          <p:cNvPr id="1660628011" name="TextBox 14"/>
          <p:cNvSpPr txBox="1"/>
          <p:nvPr/>
        </p:nvSpPr>
        <p:spPr bwMode="auto">
          <a:xfrm>
            <a:off x="8092440" y="3867911"/>
            <a:ext cx="30175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Divisor do barramento</a:t>
            </a:r>
            <a:endParaRPr/>
          </a:p>
        </p:txBody>
      </p:sp>
      <p:sp>
        <p:nvSpPr>
          <p:cNvPr id="2079681053" name="Rectangle 15"/>
          <p:cNvSpPr/>
          <p:nvPr/>
        </p:nvSpPr>
        <p:spPr bwMode="auto">
          <a:xfrm>
            <a:off x="640080" y="4434840"/>
            <a:ext cx="2596896" cy="9144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0575858" name="Rectangle 16"/>
          <p:cNvSpPr/>
          <p:nvPr/>
        </p:nvSpPr>
        <p:spPr bwMode="auto">
          <a:xfrm>
            <a:off x="640080" y="4434840"/>
            <a:ext cx="73152" cy="91440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20882716" name="TextBox 17"/>
          <p:cNvSpPr txBox="1"/>
          <p:nvPr/>
        </p:nvSpPr>
        <p:spPr bwMode="auto">
          <a:xfrm>
            <a:off x="804671" y="4526279"/>
            <a:ext cx="232257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568C"/>
                </a:solidFill>
                <a:latin typeface="Arial"/>
              </a:rPr>
              <a:t>Medição</a:t>
            </a:r>
            <a:endParaRPr/>
          </a:p>
        </p:txBody>
      </p:sp>
      <p:sp>
        <p:nvSpPr>
          <p:cNvPr id="1672357433" name="TextBox 18"/>
          <p:cNvSpPr txBox="1"/>
          <p:nvPr/>
        </p:nvSpPr>
        <p:spPr bwMode="auto">
          <a:xfrm>
            <a:off x="804671" y="4818888"/>
            <a:ext cx="2322576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Shunt 1 mΩ + INA240</a:t>
            </a:r>
            <a:endParaRPr/>
          </a:p>
        </p:txBody>
      </p:sp>
      <p:sp>
        <p:nvSpPr>
          <p:cNvPr id="541047489" name="Rectangle 20"/>
          <p:cNvSpPr/>
          <p:nvPr/>
        </p:nvSpPr>
        <p:spPr bwMode="auto">
          <a:xfrm>
            <a:off x="3401568" y="4434840"/>
            <a:ext cx="2596896" cy="9144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2141660" name="Rectangle 21"/>
          <p:cNvSpPr/>
          <p:nvPr/>
        </p:nvSpPr>
        <p:spPr bwMode="auto">
          <a:xfrm>
            <a:off x="3401568" y="4434840"/>
            <a:ext cx="73152" cy="91440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248553" name="TextBox 22"/>
          <p:cNvSpPr txBox="1"/>
          <p:nvPr/>
        </p:nvSpPr>
        <p:spPr bwMode="auto">
          <a:xfrm>
            <a:off x="3566160" y="4526279"/>
            <a:ext cx="232257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B23939"/>
                </a:solidFill>
                <a:latin typeface="Arial"/>
              </a:rPr>
              <a:t>Sobrecorrente em hardware</a:t>
            </a:r>
            <a:endParaRPr/>
          </a:p>
        </p:txBody>
      </p:sp>
      <p:sp>
        <p:nvSpPr>
          <p:cNvPr id="1822952059" name="TextBox 23"/>
          <p:cNvSpPr txBox="1"/>
          <p:nvPr/>
        </p:nvSpPr>
        <p:spPr bwMode="auto">
          <a:xfrm flipH="0" flipV="0">
            <a:off x="3566160" y="5007060"/>
            <a:ext cx="2322576" cy="287314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 fontScale="95000" lnSpcReduction="1000"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LM339 aciona a proteção sem esperar o software</a:t>
            </a:r>
            <a:endParaRPr/>
          </a:p>
        </p:txBody>
      </p:sp>
      <p:sp>
        <p:nvSpPr>
          <p:cNvPr id="812425200" name="Rectangle 25"/>
          <p:cNvSpPr/>
          <p:nvPr/>
        </p:nvSpPr>
        <p:spPr bwMode="auto">
          <a:xfrm>
            <a:off x="6163056" y="4434840"/>
            <a:ext cx="2596896" cy="9144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4104431" name="Rectangle 26"/>
          <p:cNvSpPr/>
          <p:nvPr/>
        </p:nvSpPr>
        <p:spPr bwMode="auto">
          <a:xfrm>
            <a:off x="6163056" y="4434840"/>
            <a:ext cx="73152" cy="91440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6155291" name="TextBox 27"/>
          <p:cNvSpPr txBox="1"/>
          <p:nvPr/>
        </p:nvSpPr>
        <p:spPr bwMode="auto">
          <a:xfrm>
            <a:off x="6327648" y="4526279"/>
            <a:ext cx="232257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C47020"/>
                </a:solidFill>
                <a:latin typeface="Arial"/>
              </a:rPr>
              <a:t>Supervisão por software</a:t>
            </a:r>
            <a:endParaRPr/>
          </a:p>
        </p:txBody>
      </p:sp>
      <p:sp>
        <p:nvSpPr>
          <p:cNvPr id="590940391" name="TextBox 28"/>
          <p:cNvSpPr txBox="1"/>
          <p:nvPr/>
        </p:nvSpPr>
        <p:spPr bwMode="auto">
          <a:xfrm>
            <a:off x="6327648" y="4818888"/>
            <a:ext cx="2322576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Supervisão periódica de falha</a:t>
            </a:r>
            <a:endParaRPr/>
          </a:p>
        </p:txBody>
      </p:sp>
      <p:sp>
        <p:nvSpPr>
          <p:cNvPr id="720359892" name="Rectangle 30"/>
          <p:cNvSpPr/>
          <p:nvPr/>
        </p:nvSpPr>
        <p:spPr bwMode="auto">
          <a:xfrm>
            <a:off x="8924544" y="4434840"/>
            <a:ext cx="2596896" cy="9144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385366" name="Rectangle 31"/>
          <p:cNvSpPr/>
          <p:nvPr/>
        </p:nvSpPr>
        <p:spPr bwMode="auto">
          <a:xfrm>
            <a:off x="8924544" y="4434840"/>
            <a:ext cx="73152" cy="91440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6643102" name="TextBox 32"/>
          <p:cNvSpPr txBox="1"/>
          <p:nvPr/>
        </p:nvSpPr>
        <p:spPr bwMode="auto">
          <a:xfrm>
            <a:off x="9089136" y="4526279"/>
            <a:ext cx="232257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25825C"/>
                </a:solidFill>
                <a:latin typeface="Arial"/>
              </a:rPr>
              <a:t>Estado seguro</a:t>
            </a:r>
            <a:endParaRPr/>
          </a:p>
        </p:txBody>
      </p:sp>
      <p:sp>
        <p:nvSpPr>
          <p:cNvPr id="1438009676" name="TextBox 33"/>
          <p:cNvSpPr txBox="1"/>
          <p:nvPr/>
        </p:nvSpPr>
        <p:spPr bwMode="auto">
          <a:xfrm>
            <a:off x="9089136" y="4818888"/>
            <a:ext cx="2322576" cy="4754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Desligamento dos acionadores e pulsos desarmados</a:t>
            </a:r>
            <a:endParaRPr/>
          </a:p>
        </p:txBody>
      </p:sp>
      <p:sp>
        <p:nvSpPr>
          <p:cNvPr id="1316221914" name="TextBox 10"/>
          <p:cNvSpPr txBox="1"/>
          <p:nvPr/>
        </p:nvSpPr>
        <p:spPr bwMode="auto">
          <a:xfrm flipH="0" flipV="0">
            <a:off x="3016011" y="4764022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525286102" name="TextBox 10"/>
          <p:cNvSpPr txBox="1"/>
          <p:nvPr/>
        </p:nvSpPr>
        <p:spPr bwMode="auto">
          <a:xfrm flipH="0" flipV="0">
            <a:off x="5806660" y="472228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690436872" name="TextBox 10"/>
          <p:cNvSpPr txBox="1"/>
          <p:nvPr/>
        </p:nvSpPr>
        <p:spPr bwMode="auto">
          <a:xfrm flipH="0" flipV="0">
            <a:off x="8543371" y="472228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5625249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86992265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4530470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42081031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10</a:t>
            </a:r>
            <a:endParaRPr/>
          </a:p>
        </p:txBody>
      </p:sp>
      <p:sp>
        <p:nvSpPr>
          <p:cNvPr id="588995049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Firmware em Camadas</a:t>
            </a:r>
            <a:endParaRPr/>
          </a:p>
        </p:txBody>
      </p:sp>
      <p:sp>
        <p:nvSpPr>
          <p:cNvPr id="499086805" name="Rectangle 6"/>
          <p:cNvSpPr/>
          <p:nvPr/>
        </p:nvSpPr>
        <p:spPr bwMode="auto">
          <a:xfrm>
            <a:off x="790956" y="2012142"/>
            <a:ext cx="5779008" cy="3080601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95116060" name="Picture 7" descr="firmware_architectur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22960" y="2044146"/>
            <a:ext cx="5715000" cy="3016594"/>
          </a:xfrm>
          <a:prstGeom prst="rect">
            <a:avLst/>
          </a:prstGeom>
        </p:spPr>
      </p:pic>
      <p:sp>
        <p:nvSpPr>
          <p:cNvPr id="1046481405" name="Rectangle 9"/>
          <p:cNvSpPr/>
          <p:nvPr/>
        </p:nvSpPr>
        <p:spPr bwMode="auto">
          <a:xfrm>
            <a:off x="6903720" y="2057400"/>
            <a:ext cx="4160519" cy="9144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9081084" name="Rectangle 10"/>
          <p:cNvSpPr/>
          <p:nvPr/>
        </p:nvSpPr>
        <p:spPr bwMode="auto">
          <a:xfrm>
            <a:off x="6903720" y="2057400"/>
            <a:ext cx="73152" cy="91440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309912" name="TextBox 11"/>
          <p:cNvSpPr txBox="1"/>
          <p:nvPr/>
        </p:nvSpPr>
        <p:spPr bwMode="auto">
          <a:xfrm>
            <a:off x="7068312" y="2148840"/>
            <a:ext cx="38862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Ideia Principal</a:t>
            </a:r>
            <a:endParaRPr/>
          </a:p>
        </p:txBody>
      </p:sp>
      <p:sp>
        <p:nvSpPr>
          <p:cNvPr id="596631969" name="TextBox 12"/>
          <p:cNvSpPr txBox="1"/>
          <p:nvPr/>
        </p:nvSpPr>
        <p:spPr bwMode="auto">
          <a:xfrm>
            <a:off x="7068312" y="2441448"/>
            <a:ext cx="3886200" cy="475488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 fontScale="80000" lnSpcReduction="4000"/>
          </a:bodyPr>
          <a:lstStyle/>
          <a:p>
            <a:pPr algn="l">
              <a:defRPr/>
            </a:pPr>
            <a:r>
              <a:rPr lang="pt-BR" sz="1400" b="0" i="0" u="none" strike="noStrike" cap="none" spc="0">
                <a:solidFill>
                  <a:srgbClr val="232323"/>
                </a:solidFill>
                <a:latin typeface="Arial"/>
                <a:ea typeface="Arial"/>
                <a:cs typeface="Arial"/>
              </a:rPr>
              <a:t>O controle do sistema independe do hardware físico, sendo governado pelas camadas de abstração e seus contratos lógicos.</a:t>
            </a:r>
            <a:endParaRPr sz="1400"/>
          </a:p>
        </p:txBody>
      </p:sp>
      <p:sp>
        <p:nvSpPr>
          <p:cNvPr id="1219541062" name="TextBox 13"/>
          <p:cNvSpPr txBox="1"/>
          <p:nvPr/>
        </p:nvSpPr>
        <p:spPr bwMode="auto">
          <a:xfrm flipH="0" flipV="0">
            <a:off x="6931152" y="3246120"/>
            <a:ext cx="4160518" cy="2880771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45000" lnSpcReduction="11000"/>
          </a:bodyPr>
          <a:lstStyle/>
          <a:p>
            <a:pPr marL="206776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O Centro de Comando</a:t>
            </a:r>
            <a:endParaRPr sz="2400"/>
          </a:p>
          <a:p>
            <a:pPr marL="606827" lvl="1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HAL</a:t>
            </a:r>
            <a:r>
              <a:rPr lang="pt-BR" sz="2400" b="0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(Hardware Abstraction Layer): Interface de software que abstrai a complexidade física do chip.</a:t>
            </a:r>
            <a:endParaRPr sz="2400" b="0" i="0" u="none">
              <a:solidFill>
                <a:srgbClr val="1F1F1F"/>
              </a:solidFill>
              <a:latin typeface="Arial"/>
              <a:ea typeface="Arial"/>
              <a:cs typeface="Arial"/>
            </a:endParaRPr>
          </a:p>
          <a:p>
            <a:pPr marL="206776" indent="-206776">
              <a:buFont typeface="Arial"/>
              <a:buChar char="•"/>
              <a:defRPr/>
            </a:pPr>
            <a:endParaRPr sz="2400"/>
          </a:p>
          <a:p>
            <a:pPr marL="206776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A Fronteira Física</a:t>
            </a:r>
            <a:endParaRPr sz="2400"/>
          </a:p>
          <a:p>
            <a:pPr marL="606827" lvl="1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GPIO</a:t>
            </a:r>
            <a:r>
              <a:rPr lang="pt-BR" sz="2400" b="0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(General-Purpose Input/Output): Pinos físicos programáveis de entrada e saída.</a:t>
            </a:r>
            <a:endParaRPr sz="2400"/>
          </a:p>
          <a:p>
            <a:pPr marL="206776" indent="-206776">
              <a:buFont typeface="Arial"/>
              <a:buChar char="•"/>
              <a:defRPr/>
            </a:pPr>
            <a:endParaRPr sz="2400"/>
          </a:p>
          <a:p>
            <a:pPr marL="206776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Percepção e Expressão</a:t>
            </a:r>
            <a:endParaRPr sz="2400"/>
          </a:p>
          <a:p>
            <a:pPr marL="606827" lvl="1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ADC</a:t>
            </a:r>
            <a:r>
              <a:rPr lang="pt-BR" sz="2400" b="0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(Analog-to-Digital Converter): Converte voltagens analógicas em dados digitais.</a:t>
            </a:r>
            <a:endParaRPr sz="2400"/>
          </a:p>
          <a:p>
            <a:pPr marL="206776" indent="-206776">
              <a:buFont typeface="Arial"/>
              <a:buChar char="•"/>
              <a:defRPr/>
            </a:pPr>
            <a:endParaRPr sz="2400"/>
          </a:p>
          <a:p>
            <a:pPr marL="606827" lvl="1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DAC</a:t>
            </a:r>
            <a:r>
              <a:rPr lang="pt-BR" sz="2400" b="0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(Digital-to-Analog Converter): Converte dados digitais em voltagens analógicas.</a:t>
            </a:r>
            <a:endParaRPr sz="2400"/>
          </a:p>
          <a:p>
            <a:pPr marL="206776" indent="-206776">
              <a:buFont typeface="Arial"/>
              <a:buChar char="•"/>
              <a:defRPr/>
            </a:pPr>
            <a:endParaRPr sz="2400"/>
          </a:p>
          <a:p>
            <a:pPr marL="206776" indent="-206776"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Ação e Potência</a:t>
            </a:r>
            <a:endParaRPr sz="2400"/>
          </a:p>
          <a:p>
            <a:pPr marL="606828" lvl="1" indent="-206777">
              <a:lnSpc>
                <a:spcPct val="100000"/>
              </a:lnSpc>
              <a:spcAft>
                <a:spcPts val="300"/>
              </a:spcAft>
              <a:buFont typeface="Arial"/>
              <a:buChar char="•"/>
              <a:defRPr/>
            </a:pPr>
            <a:r>
              <a:rPr lang="pt-BR" sz="2400" b="1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MCPWM</a:t>
            </a:r>
            <a:r>
              <a:rPr lang="pt-BR" sz="2400" b="0" i="0" u="none" strike="noStrike" cap="none" spc="0">
                <a:solidFill>
                  <a:srgbClr val="1F1F1F"/>
                </a:solidFill>
                <a:latin typeface="Arial"/>
                <a:ea typeface="Arial"/>
                <a:cs typeface="Arial"/>
              </a:rPr>
              <a:t> (Motor Control Pulse Width Modulator): Gerador de pulsos para controle preciso de motores.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5173372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800216646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741498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78870244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11</a:t>
            </a:r>
            <a:endParaRPr/>
          </a:p>
        </p:txBody>
      </p:sp>
      <p:sp>
        <p:nvSpPr>
          <p:cNvPr id="1257225333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Temporização de Controle</a:t>
            </a:r>
            <a:endParaRPr/>
          </a:p>
        </p:txBody>
      </p:sp>
      <p:sp>
        <p:nvSpPr>
          <p:cNvPr id="73712570" name="Rectangle 6"/>
          <p:cNvSpPr/>
          <p:nvPr/>
        </p:nvSpPr>
        <p:spPr bwMode="auto">
          <a:xfrm>
            <a:off x="2205227" y="2148840"/>
            <a:ext cx="2423160" cy="114300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4929842" name="TextBox 7"/>
          <p:cNvSpPr txBox="1"/>
          <p:nvPr/>
        </p:nvSpPr>
        <p:spPr bwMode="auto">
          <a:xfrm>
            <a:off x="2296667" y="2258568"/>
            <a:ext cx="2240279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00568C"/>
                </a:solidFill>
                <a:latin typeface="Arial"/>
              </a:rPr>
              <a:t>20 kHz</a:t>
            </a:r>
            <a:endParaRPr/>
          </a:p>
        </p:txBody>
      </p:sp>
      <p:sp>
        <p:nvSpPr>
          <p:cNvPr id="846810571" name="TextBox 8"/>
          <p:cNvSpPr txBox="1"/>
          <p:nvPr/>
        </p:nvSpPr>
        <p:spPr bwMode="auto">
          <a:xfrm>
            <a:off x="2296667" y="2651760"/>
            <a:ext cx="2240279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Pulsos gerados pelo temporizador de motor</a:t>
            </a:r>
            <a:endParaRPr/>
          </a:p>
        </p:txBody>
      </p:sp>
      <p:sp>
        <p:nvSpPr>
          <p:cNvPr id="865827567" name="Rectangle 9"/>
          <p:cNvSpPr/>
          <p:nvPr/>
        </p:nvSpPr>
        <p:spPr bwMode="auto">
          <a:xfrm>
            <a:off x="4884419" y="2148840"/>
            <a:ext cx="2423160" cy="114300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6116087" name="TextBox 10"/>
          <p:cNvSpPr txBox="1"/>
          <p:nvPr/>
        </p:nvSpPr>
        <p:spPr bwMode="auto">
          <a:xfrm>
            <a:off x="4975859" y="2258568"/>
            <a:ext cx="2240279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008080"/>
                </a:solidFill>
                <a:latin typeface="Arial"/>
              </a:rPr>
              <a:t>1 kHz</a:t>
            </a:r>
            <a:endParaRPr/>
          </a:p>
        </p:txBody>
      </p:sp>
      <p:sp>
        <p:nvSpPr>
          <p:cNvPr id="349474579" name="TextBox 11"/>
          <p:cNvSpPr txBox="1"/>
          <p:nvPr/>
        </p:nvSpPr>
        <p:spPr bwMode="auto">
          <a:xfrm>
            <a:off x="4975859" y="2651760"/>
            <a:ext cx="2240279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Malha de Controle</a:t>
            </a:r>
            <a:endParaRPr/>
          </a:p>
        </p:txBody>
      </p:sp>
      <p:sp>
        <p:nvSpPr>
          <p:cNvPr id="1671987502" name="Rectangle 12"/>
          <p:cNvSpPr/>
          <p:nvPr/>
        </p:nvSpPr>
        <p:spPr bwMode="auto">
          <a:xfrm>
            <a:off x="7563611" y="2148840"/>
            <a:ext cx="2423160" cy="1143000"/>
          </a:xfrm>
          <a:prstGeom prst="rect">
            <a:avLst/>
          </a:prstGeom>
          <a:solidFill>
            <a:srgbClr val="F5F9FC"/>
          </a:solidFill>
          <a:ln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64210483" name="TextBox 13"/>
          <p:cNvSpPr txBox="1"/>
          <p:nvPr/>
        </p:nvSpPr>
        <p:spPr bwMode="auto">
          <a:xfrm>
            <a:off x="7655051" y="2258568"/>
            <a:ext cx="2240279" cy="2926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2200" b="1" i="0">
                <a:solidFill>
                  <a:srgbClr val="C47020"/>
                </a:solidFill>
                <a:latin typeface="Arial"/>
              </a:rPr>
              <a:t>500 ns</a:t>
            </a:r>
            <a:endParaRPr/>
          </a:p>
        </p:txBody>
      </p:sp>
      <p:sp>
        <p:nvSpPr>
          <p:cNvPr id="316188766" name="TextBox 14"/>
          <p:cNvSpPr txBox="1"/>
          <p:nvPr/>
        </p:nvSpPr>
        <p:spPr bwMode="auto">
          <a:xfrm>
            <a:off x="7655051" y="2651760"/>
            <a:ext cx="2240279" cy="57607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Tempo morto por hardware</a:t>
            </a:r>
            <a:endParaRPr/>
          </a:p>
        </p:txBody>
      </p:sp>
      <p:sp>
        <p:nvSpPr>
          <p:cNvPr id="1569115159" name="Rectangle 18"/>
          <p:cNvSpPr/>
          <p:nvPr/>
        </p:nvSpPr>
        <p:spPr bwMode="auto">
          <a:xfrm>
            <a:off x="914400" y="3749039"/>
            <a:ext cx="493776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6062434" name="Rectangle 19"/>
          <p:cNvSpPr/>
          <p:nvPr/>
        </p:nvSpPr>
        <p:spPr bwMode="auto">
          <a:xfrm>
            <a:off x="914400" y="3749039"/>
            <a:ext cx="73152" cy="1143000"/>
          </a:xfrm>
          <a:prstGeom prst="rect">
            <a:avLst/>
          </a:prstGeom>
          <a:solidFill>
            <a:srgbClr val="00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29428483" name="TextBox 20"/>
          <p:cNvSpPr txBox="1"/>
          <p:nvPr/>
        </p:nvSpPr>
        <p:spPr bwMode="auto">
          <a:xfrm>
            <a:off x="1078992" y="3840479"/>
            <a:ext cx="466344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3769"/>
                </a:solidFill>
                <a:latin typeface="Arial"/>
              </a:rPr>
              <a:t>Fora da rotina principal</a:t>
            </a:r>
            <a:endParaRPr/>
          </a:p>
        </p:txBody>
      </p:sp>
      <p:sp>
        <p:nvSpPr>
          <p:cNvPr id="276530404" name="TextBox 21"/>
          <p:cNvSpPr txBox="1"/>
          <p:nvPr/>
        </p:nvSpPr>
        <p:spPr bwMode="auto">
          <a:xfrm>
            <a:off x="1078992" y="4123944"/>
            <a:ext cx="4663440" cy="722376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250">
                <a:solidFill>
                  <a:srgbClr val="232323"/>
                </a:solidFill>
                <a:latin typeface="Arial"/>
              </a:rPr>
              <a:t>• O caminho crítico de controle roda por temporizador.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250">
                <a:solidFill>
                  <a:srgbClr val="232323"/>
                </a:solidFill>
                <a:latin typeface="Arial"/>
              </a:rPr>
              <a:t>• A rotina principal fica com entrada de comandos, serial e telemetria.</a:t>
            </a:r>
            <a:endParaRPr/>
          </a:p>
        </p:txBody>
      </p:sp>
      <p:sp>
        <p:nvSpPr>
          <p:cNvPr id="211178532" name="Rectangle 22"/>
          <p:cNvSpPr/>
          <p:nvPr/>
        </p:nvSpPr>
        <p:spPr bwMode="auto">
          <a:xfrm>
            <a:off x="6263640" y="3749039"/>
            <a:ext cx="4937760" cy="114300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5429793" name="Rectangle 23"/>
          <p:cNvSpPr/>
          <p:nvPr/>
        </p:nvSpPr>
        <p:spPr bwMode="auto">
          <a:xfrm>
            <a:off x="6263640" y="3749039"/>
            <a:ext cx="73152" cy="1143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2556375" name="TextBox 24"/>
          <p:cNvSpPr txBox="1"/>
          <p:nvPr/>
        </p:nvSpPr>
        <p:spPr bwMode="auto">
          <a:xfrm>
            <a:off x="6428231" y="3840479"/>
            <a:ext cx="466344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8080"/>
                </a:solidFill>
                <a:latin typeface="Arial"/>
              </a:rPr>
              <a:t>Controladores PI</a:t>
            </a:r>
            <a:endParaRPr/>
          </a:p>
        </p:txBody>
      </p:sp>
      <p:sp>
        <p:nvSpPr>
          <p:cNvPr id="287178683" name="TextBox 25"/>
          <p:cNvSpPr txBox="1"/>
          <p:nvPr/>
        </p:nvSpPr>
        <p:spPr bwMode="auto">
          <a:xfrm>
            <a:off x="6428231" y="4123944"/>
            <a:ext cx="4663440" cy="722376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250">
                <a:solidFill>
                  <a:srgbClr val="232323"/>
                </a:solidFill>
                <a:latin typeface="Arial"/>
              </a:rPr>
              <a:t>• PI de corrente e opcionalmente PI de velocidade.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250">
                <a:solidFill>
                  <a:srgbClr val="232323"/>
                </a:solidFill>
                <a:latin typeface="Arial"/>
              </a:rPr>
              <a:t>• Anti-windup e limites de ciclo ativo em firmware.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7046374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901048159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186916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700071304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12</a:t>
            </a:r>
            <a:endParaRPr/>
          </a:p>
        </p:txBody>
      </p:sp>
      <p:sp>
        <p:nvSpPr>
          <p:cNvPr id="1664309533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Máquina de Estados e Partida</a:t>
            </a:r>
            <a:endParaRPr/>
          </a:p>
        </p:txBody>
      </p:sp>
      <p:pic>
        <p:nvPicPr>
          <p:cNvPr id="1000062918" name="Picture 7" descr="maquina_estados_passagem_zero.png"/>
          <p:cNvPicPr>
            <a:picLocks noChangeAspect="1"/>
          </p:cNvPicPr>
          <p:nvPr/>
        </p:nvPicPr>
        <p:blipFill rotWithShape="1">
          <a:blip r:embed="rId4"/>
          <a:srcRect l="0" t="51799" r="0" b="5135"/>
        </p:blipFill>
        <p:spPr bwMode="auto">
          <a:xfrm flipH="0" flipV="0">
            <a:off x="405476" y="2717033"/>
            <a:ext cx="6301164" cy="1807977"/>
          </a:xfrm>
          <a:prstGeom prst="rect">
            <a:avLst/>
          </a:prstGeom>
        </p:spPr>
      </p:pic>
      <p:sp>
        <p:nvSpPr>
          <p:cNvPr id="1550008887" name="Rectangle 9"/>
          <p:cNvSpPr/>
          <p:nvPr/>
        </p:nvSpPr>
        <p:spPr bwMode="auto">
          <a:xfrm>
            <a:off x="7370064" y="2231134"/>
            <a:ext cx="3657600" cy="841248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8888481" name="Rectangle 10"/>
          <p:cNvSpPr/>
          <p:nvPr/>
        </p:nvSpPr>
        <p:spPr bwMode="auto">
          <a:xfrm>
            <a:off x="7370064" y="2231134"/>
            <a:ext cx="73152" cy="841248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59525035" name="TextBox 11"/>
          <p:cNvSpPr txBox="1"/>
          <p:nvPr/>
        </p:nvSpPr>
        <p:spPr bwMode="auto">
          <a:xfrm>
            <a:off x="7534654" y="2322574"/>
            <a:ext cx="33832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Por que alinhar antes da partida?</a:t>
            </a:r>
            <a:endParaRPr/>
          </a:p>
        </p:txBody>
      </p:sp>
      <p:sp>
        <p:nvSpPr>
          <p:cNvPr id="565484407" name="TextBox 12"/>
          <p:cNvSpPr txBox="1"/>
          <p:nvPr/>
        </p:nvSpPr>
        <p:spPr bwMode="auto">
          <a:xfrm>
            <a:off x="7534654" y="2615182"/>
            <a:ext cx="3383280" cy="4023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000" b="0" i="0">
                <a:solidFill>
                  <a:srgbClr val="232323"/>
                </a:solidFill>
                <a:latin typeface="Arial"/>
              </a:rPr>
              <a:t>Em repouso não há força contraeletromotriz; é preciso impor uma posição inicial conhecida.</a:t>
            </a:r>
            <a:endParaRPr/>
          </a:p>
        </p:txBody>
      </p:sp>
      <p:sp>
        <p:nvSpPr>
          <p:cNvPr id="1236433429" name="Rectangle 13"/>
          <p:cNvSpPr/>
          <p:nvPr/>
        </p:nvSpPr>
        <p:spPr bwMode="auto">
          <a:xfrm>
            <a:off x="7370064" y="3236973"/>
            <a:ext cx="3657600" cy="841248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3885938" name="Rectangle 14"/>
          <p:cNvSpPr/>
          <p:nvPr/>
        </p:nvSpPr>
        <p:spPr bwMode="auto">
          <a:xfrm>
            <a:off x="7370064" y="3236973"/>
            <a:ext cx="73152" cy="841248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0428859" name="TextBox 15"/>
          <p:cNvSpPr txBox="1"/>
          <p:nvPr/>
        </p:nvSpPr>
        <p:spPr bwMode="auto">
          <a:xfrm>
            <a:off x="7534654" y="3328414"/>
            <a:ext cx="33832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B23939"/>
                </a:solidFill>
                <a:latin typeface="Arial"/>
              </a:rPr>
              <a:t>Por que travar em falha?</a:t>
            </a:r>
            <a:endParaRPr/>
          </a:p>
        </p:txBody>
      </p:sp>
      <p:sp>
        <p:nvSpPr>
          <p:cNvPr id="749206790" name="TextBox 16"/>
          <p:cNvSpPr txBox="1"/>
          <p:nvPr/>
        </p:nvSpPr>
        <p:spPr bwMode="auto">
          <a:xfrm>
            <a:off x="7534654" y="3621022"/>
            <a:ext cx="3383280" cy="4023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250" b="0" i="0">
                <a:solidFill>
                  <a:srgbClr val="232323"/>
                </a:solidFill>
                <a:latin typeface="Arial"/>
              </a:rPr>
              <a:t>Falhas são travadas até liberação explícita do operador.</a:t>
            </a:r>
            <a:endParaRPr/>
          </a:p>
        </p:txBody>
      </p:sp>
      <p:sp>
        <p:nvSpPr>
          <p:cNvPr id="1253798377" name="Rectangle 17"/>
          <p:cNvSpPr/>
          <p:nvPr/>
        </p:nvSpPr>
        <p:spPr bwMode="auto">
          <a:xfrm>
            <a:off x="7370064" y="4242814"/>
            <a:ext cx="3657600" cy="841248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2924821" name="Rectangle 18"/>
          <p:cNvSpPr/>
          <p:nvPr/>
        </p:nvSpPr>
        <p:spPr bwMode="auto">
          <a:xfrm>
            <a:off x="7370064" y="4242814"/>
            <a:ext cx="73152" cy="841248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6942802" name="TextBox 19"/>
          <p:cNvSpPr txBox="1"/>
          <p:nvPr/>
        </p:nvSpPr>
        <p:spPr bwMode="auto">
          <a:xfrm>
            <a:off x="7534654" y="4334254"/>
            <a:ext cx="33832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25825C"/>
                </a:solidFill>
                <a:latin typeface="Arial"/>
              </a:rPr>
              <a:t>Resultado</a:t>
            </a:r>
            <a:endParaRPr/>
          </a:p>
        </p:txBody>
      </p:sp>
      <p:sp>
        <p:nvSpPr>
          <p:cNvPr id="1689921701" name="TextBox 20"/>
          <p:cNvSpPr txBox="1"/>
          <p:nvPr/>
        </p:nvSpPr>
        <p:spPr bwMode="auto">
          <a:xfrm>
            <a:off x="7534654" y="4626862"/>
            <a:ext cx="3383280" cy="402336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000" b="0" i="0">
                <a:solidFill>
                  <a:srgbClr val="232323"/>
                </a:solidFill>
                <a:latin typeface="Arial"/>
              </a:rPr>
              <a:t>A máquina de estados permitiu isolar falhas de firmware, sensoriamento e potência.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8276569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835516226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1808512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614819348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16</a:t>
            </a:r>
            <a:endParaRPr/>
          </a:p>
        </p:txBody>
      </p:sp>
      <p:sp>
        <p:nvSpPr>
          <p:cNvPr id="155247522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300" b="1" i="0">
                <a:solidFill>
                  <a:srgbClr val="003769"/>
                </a:solidFill>
                <a:latin typeface="Arial"/>
              </a:rPr>
              <a:t>Placa: Layout e Separação de Domínios</a:t>
            </a:r>
            <a:endParaRPr/>
          </a:p>
        </p:txBody>
      </p:sp>
      <p:sp>
        <p:nvSpPr>
          <p:cNvPr id="773014024" name="Rectangle 6"/>
          <p:cNvSpPr/>
          <p:nvPr/>
        </p:nvSpPr>
        <p:spPr bwMode="auto">
          <a:xfrm>
            <a:off x="1159205" y="1906524"/>
            <a:ext cx="4128108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42141287" name="Picture 7" descr="placa_superior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91209" y="1938528"/>
            <a:ext cx="4064100" cy="3063240"/>
          </a:xfrm>
          <a:prstGeom prst="rect">
            <a:avLst/>
          </a:prstGeom>
        </p:spPr>
      </p:pic>
      <p:sp>
        <p:nvSpPr>
          <p:cNvPr id="38098381" name="TextBox 8"/>
          <p:cNvSpPr txBox="1"/>
          <p:nvPr/>
        </p:nvSpPr>
        <p:spPr bwMode="auto">
          <a:xfrm>
            <a:off x="685800" y="5029200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Camada superior: polígonos e potência</a:t>
            </a:r>
            <a:endParaRPr/>
          </a:p>
        </p:txBody>
      </p:sp>
      <p:sp>
        <p:nvSpPr>
          <p:cNvPr id="619324766" name="Rectangle 9"/>
          <p:cNvSpPr/>
          <p:nvPr/>
        </p:nvSpPr>
        <p:spPr bwMode="auto">
          <a:xfrm>
            <a:off x="6552923" y="1906524"/>
            <a:ext cx="4130591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04419210" name="Picture 10" descr="placa_inferior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84927" y="1938528"/>
            <a:ext cx="4066584" cy="3063240"/>
          </a:xfrm>
          <a:prstGeom prst="rect">
            <a:avLst/>
          </a:prstGeom>
        </p:spPr>
      </p:pic>
      <p:sp>
        <p:nvSpPr>
          <p:cNvPr id="82851868" name="TextBox 11"/>
          <p:cNvSpPr txBox="1"/>
          <p:nvPr/>
        </p:nvSpPr>
        <p:spPr bwMode="auto">
          <a:xfrm>
            <a:off x="6080760" y="5029200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Camada inferior: planos de terra</a:t>
            </a:r>
            <a:endParaRPr/>
          </a:p>
        </p:txBody>
      </p:sp>
      <p:sp>
        <p:nvSpPr>
          <p:cNvPr id="1015323389" name="TextBox 12"/>
          <p:cNvSpPr txBox="1"/>
          <p:nvPr/>
        </p:nvSpPr>
        <p:spPr bwMode="auto">
          <a:xfrm>
            <a:off x="868680" y="5303520"/>
            <a:ext cx="10287000" cy="502920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100">
                <a:solidFill>
                  <a:srgbClr val="232323"/>
                </a:solidFill>
                <a:latin typeface="Arial"/>
              </a:rPr>
              <a:t>• Terra de potência e terra de sinal ligados em ponto único.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100">
                <a:solidFill>
                  <a:srgbClr val="232323"/>
                </a:solidFill>
                <a:latin typeface="Arial"/>
              </a:rPr>
              <a:t>• Trilhas e polígonos largos para reduzir resistência e aquecimento.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100">
                <a:solidFill>
                  <a:srgbClr val="232323"/>
                </a:solidFill>
                <a:latin typeface="Arial"/>
              </a:rPr>
              <a:t>• ESP32 afastado do núcleo de chaveamento para reduzir acoplamento.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9254153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767066173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85526921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075258436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17</a:t>
            </a:r>
            <a:endParaRPr/>
          </a:p>
        </p:txBody>
      </p:sp>
      <p:sp>
        <p:nvSpPr>
          <p:cNvPr id="1486838474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Protótipo Físico</a:t>
            </a:r>
            <a:endParaRPr/>
          </a:p>
        </p:txBody>
      </p:sp>
      <p:sp>
        <p:nvSpPr>
          <p:cNvPr id="1087803974" name="Rectangle 6"/>
          <p:cNvSpPr/>
          <p:nvPr/>
        </p:nvSpPr>
        <p:spPr bwMode="auto">
          <a:xfrm>
            <a:off x="913957" y="1842515"/>
            <a:ext cx="4618604" cy="349300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22936840" name="Picture 7" descr="prototipo_top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45961" y="1874519"/>
            <a:ext cx="4554596" cy="3429000"/>
          </a:xfrm>
          <a:prstGeom prst="rect">
            <a:avLst/>
          </a:prstGeom>
        </p:spPr>
      </p:pic>
      <p:sp>
        <p:nvSpPr>
          <p:cNvPr id="1321940238" name="TextBox 8"/>
          <p:cNvSpPr txBox="1"/>
          <p:nvPr/>
        </p:nvSpPr>
        <p:spPr bwMode="auto">
          <a:xfrm>
            <a:off x="685800" y="5330952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Vista superior do protótipo</a:t>
            </a:r>
            <a:endParaRPr/>
          </a:p>
        </p:txBody>
      </p:sp>
      <p:sp>
        <p:nvSpPr>
          <p:cNvPr id="1636188564" name="Rectangle 9"/>
          <p:cNvSpPr/>
          <p:nvPr/>
        </p:nvSpPr>
        <p:spPr bwMode="auto">
          <a:xfrm>
            <a:off x="6413246" y="1842515"/>
            <a:ext cx="4409946" cy="349300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52197258" name="Picture 10" descr="prototipo_bottom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45250" y="1874519"/>
            <a:ext cx="4345938" cy="3429000"/>
          </a:xfrm>
          <a:prstGeom prst="rect">
            <a:avLst/>
          </a:prstGeom>
        </p:spPr>
      </p:pic>
      <p:sp>
        <p:nvSpPr>
          <p:cNvPr id="872252688" name="TextBox 11"/>
          <p:cNvSpPr txBox="1"/>
          <p:nvPr/>
        </p:nvSpPr>
        <p:spPr bwMode="auto">
          <a:xfrm>
            <a:off x="6080760" y="5330952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Vista inferior do protótipo</a:t>
            </a:r>
            <a:endParaRPr/>
          </a:p>
        </p:txBody>
      </p:sp>
      <p:sp>
        <p:nvSpPr>
          <p:cNvPr id="332902723" name="TextBox 12"/>
          <p:cNvSpPr txBox="1"/>
          <p:nvPr/>
        </p:nvSpPr>
        <p:spPr bwMode="auto">
          <a:xfrm>
            <a:off x="868680" y="5522976"/>
            <a:ext cx="1028700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400" b="0" i="0">
                <a:solidFill>
                  <a:srgbClr val="555555"/>
                </a:solidFill>
                <a:latin typeface="Arial"/>
              </a:rPr>
              <a:t>Protótipo permitiu depuração e instrumentação, mas elevou sensibilidade a solda, distância de isolamento e parasitas.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4470008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691908569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69685910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221906449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18</a:t>
            </a:r>
            <a:endParaRPr/>
          </a:p>
        </p:txBody>
      </p:sp>
      <p:sp>
        <p:nvSpPr>
          <p:cNvPr id="1004916922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Falhas Encontradas</a:t>
            </a:r>
            <a:endParaRPr/>
          </a:p>
        </p:txBody>
      </p:sp>
      <p:sp>
        <p:nvSpPr>
          <p:cNvPr id="1512761657" name="Rectangle 6"/>
          <p:cNvSpPr/>
          <p:nvPr/>
        </p:nvSpPr>
        <p:spPr bwMode="auto">
          <a:xfrm>
            <a:off x="609600" y="3044952"/>
            <a:ext cx="2619756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8056742" name="Rectangle 7"/>
          <p:cNvSpPr/>
          <p:nvPr/>
        </p:nvSpPr>
        <p:spPr bwMode="auto">
          <a:xfrm>
            <a:off x="609600" y="3044952"/>
            <a:ext cx="73152" cy="146304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7950148" name="TextBox 8"/>
          <p:cNvSpPr txBox="1"/>
          <p:nvPr/>
        </p:nvSpPr>
        <p:spPr bwMode="auto">
          <a:xfrm>
            <a:off x="774192" y="3136392"/>
            <a:ext cx="2345436" cy="237744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B23939"/>
                </a:solidFill>
                <a:latin typeface="Arial"/>
              </a:rPr>
              <a:t>Falha 1</a:t>
            </a:r>
            <a:endParaRPr sz="1350" b="1" i="0">
              <a:solidFill>
                <a:srgbClr val="B23939"/>
              </a:solidFill>
              <a:latin typeface="Arial"/>
            </a:endParaRPr>
          </a:p>
        </p:txBody>
      </p:sp>
      <p:sp>
        <p:nvSpPr>
          <p:cNvPr id="1628547692" name="TextBox 9"/>
          <p:cNvSpPr txBox="1"/>
          <p:nvPr/>
        </p:nvSpPr>
        <p:spPr bwMode="auto">
          <a:xfrm>
            <a:off x="774192" y="3429000"/>
            <a:ext cx="2345436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Curto entre chaves por ordem de inicialização</a:t>
            </a:r>
            <a:r>
              <a:rPr/>
              <a:t> (Firmware).</a:t>
            </a:r>
            <a:endParaRPr/>
          </a:p>
        </p:txBody>
      </p:sp>
      <p:sp>
        <p:nvSpPr>
          <p:cNvPr id="718095979" name="Rectangle 11"/>
          <p:cNvSpPr/>
          <p:nvPr/>
        </p:nvSpPr>
        <p:spPr bwMode="auto">
          <a:xfrm>
            <a:off x="3393948" y="3044952"/>
            <a:ext cx="2619756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2872284" name="Rectangle 12"/>
          <p:cNvSpPr/>
          <p:nvPr/>
        </p:nvSpPr>
        <p:spPr bwMode="auto">
          <a:xfrm>
            <a:off x="3393948" y="3044952"/>
            <a:ext cx="73152" cy="146304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7497393" name="TextBox 13"/>
          <p:cNvSpPr txBox="1"/>
          <p:nvPr/>
        </p:nvSpPr>
        <p:spPr bwMode="auto">
          <a:xfrm>
            <a:off x="3558540" y="3136392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C47020"/>
                </a:solidFill>
                <a:latin typeface="Arial"/>
              </a:rPr>
              <a:t>Falha 2</a:t>
            </a:r>
            <a:endParaRPr/>
          </a:p>
        </p:txBody>
      </p:sp>
      <p:sp>
        <p:nvSpPr>
          <p:cNvPr id="1309502656" name="TextBox 14"/>
          <p:cNvSpPr txBox="1"/>
          <p:nvPr/>
        </p:nvSpPr>
        <p:spPr bwMode="auto">
          <a:xfrm>
            <a:off x="3558540" y="3429000"/>
            <a:ext cx="2345436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Curto no resistor de acionamento R3 da fase B</a:t>
            </a:r>
            <a:endParaRPr/>
          </a:p>
        </p:txBody>
      </p:sp>
      <p:sp>
        <p:nvSpPr>
          <p:cNvPr id="1966086438" name="TextBox 15"/>
          <p:cNvSpPr txBox="1"/>
          <p:nvPr/>
        </p:nvSpPr>
        <p:spPr bwMode="auto">
          <a:xfrm>
            <a:off x="6031992" y="3657600"/>
            <a:ext cx="1280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1222877588" name="Rectangle 16"/>
          <p:cNvSpPr/>
          <p:nvPr/>
        </p:nvSpPr>
        <p:spPr bwMode="auto">
          <a:xfrm>
            <a:off x="6178296" y="3044952"/>
            <a:ext cx="2619756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4352470" name="Rectangle 17"/>
          <p:cNvSpPr/>
          <p:nvPr/>
        </p:nvSpPr>
        <p:spPr bwMode="auto">
          <a:xfrm>
            <a:off x="6178296" y="3044952"/>
            <a:ext cx="73152" cy="146304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73728561" name="TextBox 18"/>
          <p:cNvSpPr txBox="1"/>
          <p:nvPr/>
        </p:nvSpPr>
        <p:spPr bwMode="auto">
          <a:xfrm>
            <a:off x="6342888" y="3136392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C47020"/>
                </a:solidFill>
                <a:latin typeface="Arial"/>
              </a:rPr>
              <a:t>Falha 3</a:t>
            </a:r>
            <a:endParaRPr/>
          </a:p>
        </p:txBody>
      </p:sp>
      <p:sp>
        <p:nvSpPr>
          <p:cNvPr id="1841853176" name="TextBox 19"/>
          <p:cNvSpPr txBox="1"/>
          <p:nvPr/>
        </p:nvSpPr>
        <p:spPr bwMode="auto">
          <a:xfrm>
            <a:off x="6342888" y="3429000"/>
            <a:ext cx="2345436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Ponte de solda na saída do INA240 U9</a:t>
            </a:r>
            <a:endParaRPr/>
          </a:p>
        </p:txBody>
      </p:sp>
      <p:sp>
        <p:nvSpPr>
          <p:cNvPr id="809778843" name="TextBox 20"/>
          <p:cNvSpPr txBox="1"/>
          <p:nvPr/>
        </p:nvSpPr>
        <p:spPr bwMode="auto">
          <a:xfrm>
            <a:off x="8816340" y="3657600"/>
            <a:ext cx="128015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984310630" name="Rectangle 21"/>
          <p:cNvSpPr/>
          <p:nvPr/>
        </p:nvSpPr>
        <p:spPr bwMode="auto">
          <a:xfrm>
            <a:off x="8962644" y="3044952"/>
            <a:ext cx="2619756" cy="14630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1304717" name="Rectangle 22"/>
          <p:cNvSpPr/>
          <p:nvPr/>
        </p:nvSpPr>
        <p:spPr bwMode="auto">
          <a:xfrm>
            <a:off x="8962644" y="3044952"/>
            <a:ext cx="73152" cy="1463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8900304" name="TextBox 23"/>
          <p:cNvSpPr txBox="1"/>
          <p:nvPr/>
        </p:nvSpPr>
        <p:spPr bwMode="auto">
          <a:xfrm>
            <a:off x="9127236" y="3136392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8080"/>
                </a:solidFill>
                <a:latin typeface="Arial"/>
              </a:rPr>
              <a:t>Falha 4</a:t>
            </a:r>
            <a:endParaRPr/>
          </a:p>
        </p:txBody>
      </p:sp>
      <p:sp>
        <p:nvSpPr>
          <p:cNvPr id="805368535" name="TextBox 24"/>
          <p:cNvSpPr txBox="1"/>
          <p:nvPr/>
        </p:nvSpPr>
        <p:spPr bwMode="auto">
          <a:xfrm>
            <a:off x="9127236" y="3429000"/>
            <a:ext cx="2345436" cy="10241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Shutdown em Pinos de retenção do ESP32 </a:t>
            </a:r>
            <a:r>
              <a:rPr/>
              <a:t> (Firmware).</a:t>
            </a:r>
            <a:endParaRPr/>
          </a:p>
        </p:txBody>
      </p:sp>
      <p:sp>
        <p:nvSpPr>
          <p:cNvPr id="963071553" name="TextBox 10"/>
          <p:cNvSpPr txBox="1"/>
          <p:nvPr/>
        </p:nvSpPr>
        <p:spPr bwMode="auto">
          <a:xfrm flipH="0" flipV="0">
            <a:off x="2979859" y="3657600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2314494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6302708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7434702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834321865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19</a:t>
            </a:r>
            <a:endParaRPr/>
          </a:p>
        </p:txBody>
      </p:sp>
      <p:sp>
        <p:nvSpPr>
          <p:cNvPr id="806016192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Interface e Telemetria</a:t>
            </a:r>
            <a:endParaRPr/>
          </a:p>
        </p:txBody>
      </p:sp>
      <p:sp>
        <p:nvSpPr>
          <p:cNvPr id="844313161" name="Rectangle 6"/>
          <p:cNvSpPr/>
          <p:nvPr/>
        </p:nvSpPr>
        <p:spPr bwMode="auto">
          <a:xfrm>
            <a:off x="653796" y="2341215"/>
            <a:ext cx="5138928" cy="2276152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00430547" name="Picture 7" descr="Telemetria Wifi.jpe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486" y="2165357"/>
            <a:ext cx="7050725" cy="3073392"/>
          </a:xfrm>
          <a:prstGeom prst="rect">
            <a:avLst/>
          </a:prstGeom>
        </p:spPr>
      </p:pic>
      <p:sp>
        <p:nvSpPr>
          <p:cNvPr id="1876965961" name="TextBox 8"/>
          <p:cNvSpPr txBox="1"/>
          <p:nvPr/>
        </p:nvSpPr>
        <p:spPr bwMode="auto">
          <a:xfrm>
            <a:off x="1039389" y="5365900"/>
            <a:ext cx="50749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Dashboard local via Wi-Fi</a:t>
            </a:r>
            <a:endParaRPr/>
          </a:p>
        </p:txBody>
      </p:sp>
      <p:sp>
        <p:nvSpPr>
          <p:cNvPr id="270632431" name="Rectangle 9"/>
          <p:cNvSpPr/>
          <p:nvPr/>
        </p:nvSpPr>
        <p:spPr bwMode="auto">
          <a:xfrm>
            <a:off x="7246310" y="1966311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9700382" name="Rectangle 10"/>
          <p:cNvSpPr/>
          <p:nvPr/>
        </p:nvSpPr>
        <p:spPr bwMode="auto">
          <a:xfrm>
            <a:off x="7246310" y="1966311"/>
            <a:ext cx="73152" cy="96012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82101896" name="TextBox 11"/>
          <p:cNvSpPr txBox="1"/>
          <p:nvPr/>
        </p:nvSpPr>
        <p:spPr bwMode="auto">
          <a:xfrm>
            <a:off x="7410902" y="2057751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Entrada do operador</a:t>
            </a:r>
            <a:endParaRPr/>
          </a:p>
        </p:txBody>
      </p:sp>
      <p:sp>
        <p:nvSpPr>
          <p:cNvPr id="2121838610" name="TextBox 12"/>
          <p:cNvSpPr txBox="1"/>
          <p:nvPr/>
        </p:nvSpPr>
        <p:spPr bwMode="auto">
          <a:xfrm>
            <a:off x="7410902" y="2341215"/>
            <a:ext cx="4572000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45000" lnSpcReduction="11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200">
                <a:solidFill>
                  <a:srgbClr val="232323"/>
                </a:solidFill>
                <a:latin typeface="Arial"/>
              </a:rPr>
              <a:t>• DualShock 4 via Bluetooth</a:t>
            </a:r>
            <a:endParaRPr sz="22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200">
                <a:solidFill>
                  <a:srgbClr val="232323"/>
                </a:solidFill>
                <a:latin typeface="Arial"/>
              </a:rPr>
              <a:t>• R2 como referência analógica</a:t>
            </a:r>
            <a:endParaRPr sz="22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200">
                <a:solidFill>
                  <a:srgbClr val="232323"/>
                </a:solidFill>
                <a:latin typeface="Arial"/>
              </a:rPr>
              <a:t>• Barra de luz como retorno de estado</a:t>
            </a:r>
            <a:endParaRPr sz="2200"/>
          </a:p>
        </p:txBody>
      </p:sp>
      <p:sp>
        <p:nvSpPr>
          <p:cNvPr id="612182806" name="Rectangle 13"/>
          <p:cNvSpPr/>
          <p:nvPr/>
        </p:nvSpPr>
        <p:spPr bwMode="auto">
          <a:xfrm>
            <a:off x="7246310" y="3155031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16700376" name="Rectangle 14"/>
          <p:cNvSpPr/>
          <p:nvPr/>
        </p:nvSpPr>
        <p:spPr bwMode="auto">
          <a:xfrm>
            <a:off x="7246310" y="3155031"/>
            <a:ext cx="73152" cy="9601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84003275" name="TextBox 15"/>
          <p:cNvSpPr txBox="1"/>
          <p:nvPr/>
        </p:nvSpPr>
        <p:spPr bwMode="auto">
          <a:xfrm>
            <a:off x="7410902" y="3246471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8080"/>
                </a:solidFill>
                <a:latin typeface="Arial"/>
              </a:rPr>
              <a:t>Telemetria</a:t>
            </a:r>
            <a:endParaRPr/>
          </a:p>
        </p:txBody>
      </p:sp>
      <p:sp>
        <p:nvSpPr>
          <p:cNvPr id="833841891" name="TextBox 16"/>
          <p:cNvSpPr txBox="1"/>
          <p:nvPr/>
        </p:nvSpPr>
        <p:spPr bwMode="auto">
          <a:xfrm>
            <a:off x="7410902" y="3529935"/>
            <a:ext cx="4572000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600">
                <a:solidFill>
                  <a:srgbClr val="232323"/>
                </a:solidFill>
                <a:latin typeface="Arial"/>
              </a:rPr>
              <a:t>• ESP32 como ponto de acesso</a:t>
            </a:r>
            <a:endParaRPr sz="1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600">
                <a:solidFill>
                  <a:srgbClr val="232323"/>
                </a:solidFill>
                <a:latin typeface="Arial"/>
              </a:rPr>
              <a:t>• Atualização HTTP periódica e gráficos locais</a:t>
            </a:r>
            <a:endParaRPr sz="1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600">
                <a:solidFill>
                  <a:srgbClr val="232323"/>
                </a:solidFill>
                <a:latin typeface="Arial"/>
              </a:rPr>
              <a:t>• Sem dependência de internet</a:t>
            </a:r>
            <a:endParaRPr sz="1600"/>
          </a:p>
        </p:txBody>
      </p:sp>
      <p:sp>
        <p:nvSpPr>
          <p:cNvPr id="1567340729" name="Rectangle 17"/>
          <p:cNvSpPr/>
          <p:nvPr/>
        </p:nvSpPr>
        <p:spPr bwMode="auto">
          <a:xfrm>
            <a:off x="7246310" y="4343751"/>
            <a:ext cx="4846320" cy="82296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68540084" name="Rectangle 18"/>
          <p:cNvSpPr/>
          <p:nvPr/>
        </p:nvSpPr>
        <p:spPr bwMode="auto">
          <a:xfrm>
            <a:off x="7246310" y="4343751"/>
            <a:ext cx="73152" cy="82296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9172456" name="TextBox 19"/>
          <p:cNvSpPr txBox="1"/>
          <p:nvPr/>
        </p:nvSpPr>
        <p:spPr bwMode="auto">
          <a:xfrm>
            <a:off x="7410902" y="4435189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Bancada final</a:t>
            </a:r>
            <a:endParaRPr/>
          </a:p>
        </p:txBody>
      </p:sp>
      <p:sp>
        <p:nvSpPr>
          <p:cNvPr id="2055608015" name="TextBox 20"/>
          <p:cNvSpPr txBox="1"/>
          <p:nvPr/>
        </p:nvSpPr>
        <p:spPr bwMode="auto">
          <a:xfrm>
            <a:off x="7410902" y="4718654"/>
            <a:ext cx="4572000" cy="402336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250">
                <a:solidFill>
                  <a:srgbClr val="232323"/>
                </a:solidFill>
                <a:latin typeface="Arial"/>
              </a:rPr>
              <a:t>• Wi-Fi/Bluetooth isolados quando necessário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250">
                <a:solidFill>
                  <a:srgbClr val="232323"/>
                </a:solidFill>
                <a:latin typeface="Arial"/>
              </a:rPr>
              <a:t>• Interface serial para reduzir variáveis de rádio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2833480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208756507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8279880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2061021742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20</a:t>
            </a:r>
            <a:endParaRPr/>
          </a:p>
        </p:txBody>
      </p:sp>
      <p:sp>
        <p:nvSpPr>
          <p:cNvPr id="756565613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Validações de Firmware</a:t>
            </a:r>
            <a:endParaRPr/>
          </a:p>
        </p:txBody>
      </p:sp>
      <p:sp>
        <p:nvSpPr>
          <p:cNvPr id="984515009" name="Rectangle 6"/>
          <p:cNvSpPr/>
          <p:nvPr/>
        </p:nvSpPr>
        <p:spPr bwMode="auto">
          <a:xfrm>
            <a:off x="1794509" y="2157983"/>
            <a:ext cx="261975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41946958" name="Rectangle 7"/>
          <p:cNvSpPr/>
          <p:nvPr/>
        </p:nvSpPr>
        <p:spPr bwMode="auto">
          <a:xfrm>
            <a:off x="1794509" y="2157983"/>
            <a:ext cx="73152" cy="123444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2759766" name="TextBox 8"/>
          <p:cNvSpPr txBox="1"/>
          <p:nvPr/>
        </p:nvSpPr>
        <p:spPr bwMode="auto">
          <a:xfrm>
            <a:off x="1959102" y="2249423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568C"/>
                </a:solidFill>
                <a:latin typeface="Arial"/>
              </a:rPr>
              <a:t>Inicialização segura</a:t>
            </a:r>
            <a:endParaRPr/>
          </a:p>
        </p:txBody>
      </p:sp>
      <p:sp>
        <p:nvSpPr>
          <p:cNvPr id="1972717472" name="TextBox 9"/>
          <p:cNvSpPr txBox="1"/>
          <p:nvPr/>
        </p:nvSpPr>
        <p:spPr bwMode="auto">
          <a:xfrm>
            <a:off x="1959102" y="2542031"/>
            <a:ext cx="234543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Pinos em nível baixo antes dos pulsos e do tempo morto</a:t>
            </a:r>
            <a:endParaRPr/>
          </a:p>
        </p:txBody>
      </p:sp>
      <p:sp>
        <p:nvSpPr>
          <p:cNvPr id="1227252784" name="Rectangle 16"/>
          <p:cNvSpPr/>
          <p:nvPr/>
        </p:nvSpPr>
        <p:spPr bwMode="auto">
          <a:xfrm>
            <a:off x="4560569" y="2178261"/>
            <a:ext cx="261975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45401828" name="Rectangle 17"/>
          <p:cNvSpPr/>
          <p:nvPr/>
        </p:nvSpPr>
        <p:spPr bwMode="auto">
          <a:xfrm>
            <a:off x="4560569" y="2178261"/>
            <a:ext cx="73152" cy="123444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6634370" name="TextBox 18"/>
          <p:cNvSpPr txBox="1"/>
          <p:nvPr/>
        </p:nvSpPr>
        <p:spPr bwMode="auto">
          <a:xfrm>
            <a:off x="4725161" y="2269701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C47020"/>
                </a:solidFill>
                <a:latin typeface="Arial"/>
              </a:rPr>
              <a:t>Máquina de estados</a:t>
            </a:r>
            <a:endParaRPr/>
          </a:p>
        </p:txBody>
      </p:sp>
      <p:sp>
        <p:nvSpPr>
          <p:cNvPr id="1812586429" name="TextBox 19"/>
          <p:cNvSpPr txBox="1"/>
          <p:nvPr/>
        </p:nvSpPr>
        <p:spPr bwMode="auto">
          <a:xfrm>
            <a:off x="4725161" y="2562308"/>
            <a:ext cx="234543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Bloqueio de partida fora do estado parado e travamento em falha</a:t>
            </a:r>
            <a:endParaRPr/>
          </a:p>
        </p:txBody>
      </p:sp>
      <p:sp>
        <p:nvSpPr>
          <p:cNvPr id="104139812" name="Rectangle 21"/>
          <p:cNvSpPr/>
          <p:nvPr/>
        </p:nvSpPr>
        <p:spPr bwMode="auto">
          <a:xfrm>
            <a:off x="7344917" y="2178261"/>
            <a:ext cx="2619756" cy="123444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8549284" name="Rectangle 22"/>
          <p:cNvSpPr/>
          <p:nvPr/>
        </p:nvSpPr>
        <p:spPr bwMode="auto">
          <a:xfrm>
            <a:off x="7344917" y="2178261"/>
            <a:ext cx="73152" cy="123444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9492966" name="TextBox 23"/>
          <p:cNvSpPr txBox="1"/>
          <p:nvPr/>
        </p:nvSpPr>
        <p:spPr bwMode="auto">
          <a:xfrm>
            <a:off x="7509509" y="2269701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B23939"/>
                </a:solidFill>
                <a:latin typeface="Arial"/>
              </a:rPr>
              <a:t>Proteções</a:t>
            </a:r>
            <a:endParaRPr/>
          </a:p>
        </p:txBody>
      </p:sp>
      <p:sp>
        <p:nvSpPr>
          <p:cNvPr id="1645274943" name="TextBox 24"/>
          <p:cNvSpPr txBox="1"/>
          <p:nvPr/>
        </p:nvSpPr>
        <p:spPr bwMode="auto">
          <a:xfrm>
            <a:off x="7509509" y="2562308"/>
            <a:ext cx="2345436" cy="7955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Sobrecorrente em hardware, supervisão em software e subtensão</a:t>
            </a:r>
            <a:endParaRPr/>
          </a:p>
        </p:txBody>
      </p:sp>
      <p:sp>
        <p:nvSpPr>
          <p:cNvPr id="116980392" name="Rectangle 25"/>
          <p:cNvSpPr/>
          <p:nvPr/>
        </p:nvSpPr>
        <p:spPr bwMode="auto">
          <a:xfrm>
            <a:off x="914400" y="3931920"/>
            <a:ext cx="4892039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5015418" name="Rectangle 26"/>
          <p:cNvSpPr/>
          <p:nvPr/>
        </p:nvSpPr>
        <p:spPr bwMode="auto">
          <a:xfrm>
            <a:off x="914400" y="3931920"/>
            <a:ext cx="73152" cy="960120"/>
          </a:xfrm>
          <a:prstGeom prst="rect">
            <a:avLst/>
          </a:prstGeom>
          <a:solidFill>
            <a:srgbClr val="00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14838778" name="TextBox 27"/>
          <p:cNvSpPr txBox="1"/>
          <p:nvPr/>
        </p:nvSpPr>
        <p:spPr bwMode="auto">
          <a:xfrm>
            <a:off x="1078992" y="4023359"/>
            <a:ext cx="46177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3769"/>
                </a:solidFill>
                <a:latin typeface="Arial"/>
              </a:rPr>
              <a:t>Caminho crítico isolado</a:t>
            </a:r>
            <a:endParaRPr/>
          </a:p>
        </p:txBody>
      </p:sp>
      <p:sp>
        <p:nvSpPr>
          <p:cNvPr id="51752873" name="TextBox 28"/>
          <p:cNvSpPr txBox="1"/>
          <p:nvPr/>
        </p:nvSpPr>
        <p:spPr bwMode="auto">
          <a:xfrm>
            <a:off x="1078992" y="4315968"/>
            <a:ext cx="4617720" cy="521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250" b="0" i="0">
                <a:solidFill>
                  <a:srgbClr val="232323"/>
                </a:solidFill>
                <a:latin typeface="Arial"/>
              </a:rPr>
              <a:t>Acionamento e controle rodam fora da rotina principal, reduzindo interferência de telemetria e interface humana.</a:t>
            </a:r>
            <a:endParaRPr/>
          </a:p>
        </p:txBody>
      </p:sp>
      <p:sp>
        <p:nvSpPr>
          <p:cNvPr id="1723665272" name="Rectangle 29"/>
          <p:cNvSpPr/>
          <p:nvPr/>
        </p:nvSpPr>
        <p:spPr bwMode="auto">
          <a:xfrm>
            <a:off x="6263640" y="3931920"/>
            <a:ext cx="4892039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36757659" name="Rectangle 30"/>
          <p:cNvSpPr/>
          <p:nvPr/>
        </p:nvSpPr>
        <p:spPr bwMode="auto">
          <a:xfrm>
            <a:off x="6263640" y="3931920"/>
            <a:ext cx="73152" cy="96012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0451581" name="TextBox 31"/>
          <p:cNvSpPr txBox="1"/>
          <p:nvPr/>
        </p:nvSpPr>
        <p:spPr bwMode="auto">
          <a:xfrm>
            <a:off x="6428231" y="4023359"/>
            <a:ext cx="461772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25825C"/>
                </a:solidFill>
                <a:latin typeface="Arial"/>
              </a:rPr>
              <a:t>Depuração incremental</a:t>
            </a:r>
            <a:endParaRPr/>
          </a:p>
        </p:txBody>
      </p:sp>
      <p:sp>
        <p:nvSpPr>
          <p:cNvPr id="80631332" name="TextBox 32"/>
          <p:cNvSpPr txBox="1"/>
          <p:nvPr/>
        </p:nvSpPr>
        <p:spPr bwMode="auto">
          <a:xfrm>
            <a:off x="6428231" y="4315968"/>
            <a:ext cx="4617720" cy="5212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250" b="0" i="0">
                <a:solidFill>
                  <a:srgbClr val="232323"/>
                </a:solidFill>
                <a:latin typeface="Arial"/>
              </a:rPr>
              <a:t>Cada correção foi validada com barramento limitado e motor desconectado antes de avançar.</a:t>
            </a:r>
            <a:endParaRPr/>
          </a:p>
        </p:txBody>
      </p:sp>
      <p:sp>
        <p:nvSpPr>
          <p:cNvPr id="1673701154" name="TextBox 10"/>
          <p:cNvSpPr txBox="1"/>
          <p:nvPr/>
        </p:nvSpPr>
        <p:spPr bwMode="auto">
          <a:xfrm flipH="0" flipV="0">
            <a:off x="4164768" y="2562308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987069316" name="TextBox 10"/>
          <p:cNvSpPr txBox="1"/>
          <p:nvPr/>
        </p:nvSpPr>
        <p:spPr bwMode="auto">
          <a:xfrm flipH="0" flipV="0">
            <a:off x="6930829" y="2562307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6773927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2125567349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41194216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444008220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21</a:t>
            </a:r>
            <a:endParaRPr/>
          </a:p>
        </p:txBody>
      </p:sp>
      <p:sp>
        <p:nvSpPr>
          <p:cNvPr id="1212617424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Ensaio a Vazio: Limite Encontrado</a:t>
            </a:r>
            <a:endParaRPr/>
          </a:p>
        </p:txBody>
      </p:sp>
      <p:sp>
        <p:nvSpPr>
          <p:cNvPr id="821361167" name="Rectangle 6"/>
          <p:cNvSpPr/>
          <p:nvPr/>
        </p:nvSpPr>
        <p:spPr bwMode="auto">
          <a:xfrm>
            <a:off x="1189082" y="1888236"/>
            <a:ext cx="4525555" cy="3584448"/>
          </a:xfrm>
          <a:prstGeom prst="rect">
            <a:avLst/>
          </a:prstGeom>
          <a:solidFill>
            <a:srgbClr val="FFFFFF"/>
          </a:solidFill>
          <a:ln>
            <a:solidFill>
              <a:srgbClr val="D2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14040377" name="Picture 7" descr="bancada_alinhamento_comando_protecao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21086" y="1920240"/>
            <a:ext cx="4461547" cy="3520440"/>
          </a:xfrm>
          <a:prstGeom prst="rect">
            <a:avLst/>
          </a:prstGeom>
        </p:spPr>
      </p:pic>
      <p:sp>
        <p:nvSpPr>
          <p:cNvPr id="405676685" name="TextBox 8"/>
          <p:cNvSpPr txBox="1"/>
          <p:nvPr/>
        </p:nvSpPr>
        <p:spPr bwMode="auto">
          <a:xfrm>
            <a:off x="685800" y="5468112"/>
            <a:ext cx="553212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900" b="0" i="0">
                <a:solidFill>
                  <a:srgbClr val="555555"/>
                </a:solidFill>
                <a:latin typeface="Arial"/>
              </a:rPr>
              <a:t>Comando da chave superior da fase A durante o alinhamento</a:t>
            </a:r>
            <a:endParaRPr/>
          </a:p>
        </p:txBody>
      </p:sp>
      <p:sp>
        <p:nvSpPr>
          <p:cNvPr id="93159487" name="Rectangle 9"/>
          <p:cNvSpPr/>
          <p:nvPr/>
        </p:nvSpPr>
        <p:spPr bwMode="auto">
          <a:xfrm>
            <a:off x="6492240" y="2029968"/>
            <a:ext cx="43891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48466376" name="Rectangle 10"/>
          <p:cNvSpPr/>
          <p:nvPr/>
        </p:nvSpPr>
        <p:spPr bwMode="auto">
          <a:xfrm>
            <a:off x="6492240" y="2029968"/>
            <a:ext cx="73152" cy="86868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3963686" name="TextBox 11"/>
          <p:cNvSpPr txBox="1"/>
          <p:nvPr/>
        </p:nvSpPr>
        <p:spPr bwMode="auto">
          <a:xfrm>
            <a:off x="6656831" y="2121408"/>
            <a:ext cx="41148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Condição do Ensaio</a:t>
            </a:r>
            <a:endParaRPr/>
          </a:p>
        </p:txBody>
      </p:sp>
      <p:sp>
        <p:nvSpPr>
          <p:cNvPr id="1387846869" name="TextBox 12"/>
          <p:cNvSpPr txBox="1"/>
          <p:nvPr/>
        </p:nvSpPr>
        <p:spPr bwMode="auto">
          <a:xfrm>
            <a:off x="6656831" y="2404872"/>
            <a:ext cx="4114800" cy="448055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950">
                <a:solidFill>
                  <a:srgbClr val="232323"/>
                </a:solidFill>
                <a:latin typeface="Arial"/>
              </a:rPr>
              <a:t>• Motor desconectado</a:t>
            </a:r>
            <a:endParaRPr/>
          </a:p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950">
                <a:solidFill>
                  <a:srgbClr val="232323"/>
                </a:solidFill>
                <a:latin typeface="Arial"/>
              </a:rPr>
              <a:t>• 12 V, limite de 1 A</a:t>
            </a:r>
            <a:endParaRPr/>
          </a:p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950">
                <a:solidFill>
                  <a:srgbClr val="232323"/>
                </a:solidFill>
                <a:latin typeface="Arial"/>
              </a:rPr>
              <a:t>• Alinhamento com ciclo ativo de 3%</a:t>
            </a:r>
            <a:endParaRPr/>
          </a:p>
        </p:txBody>
      </p:sp>
      <p:sp>
        <p:nvSpPr>
          <p:cNvPr id="761404281" name="Rectangle 13"/>
          <p:cNvSpPr/>
          <p:nvPr/>
        </p:nvSpPr>
        <p:spPr bwMode="auto">
          <a:xfrm>
            <a:off x="6492240" y="3108960"/>
            <a:ext cx="43891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5407191" name="Rectangle 14"/>
          <p:cNvSpPr/>
          <p:nvPr/>
        </p:nvSpPr>
        <p:spPr bwMode="auto">
          <a:xfrm>
            <a:off x="6492240" y="3108960"/>
            <a:ext cx="73152" cy="86868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14456050" name="TextBox 15"/>
          <p:cNvSpPr txBox="1"/>
          <p:nvPr/>
        </p:nvSpPr>
        <p:spPr bwMode="auto">
          <a:xfrm>
            <a:off x="6656831" y="3200400"/>
            <a:ext cx="41148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B23939"/>
                </a:solidFill>
                <a:latin typeface="Arial"/>
              </a:rPr>
              <a:t>Sintoma</a:t>
            </a:r>
            <a:endParaRPr/>
          </a:p>
        </p:txBody>
      </p:sp>
      <p:sp>
        <p:nvSpPr>
          <p:cNvPr id="2050383801" name="TextBox 16"/>
          <p:cNvSpPr txBox="1"/>
          <p:nvPr/>
        </p:nvSpPr>
        <p:spPr bwMode="auto">
          <a:xfrm>
            <a:off x="6656831" y="3483864"/>
            <a:ext cx="4114800" cy="448055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950">
                <a:solidFill>
                  <a:srgbClr val="232323"/>
                </a:solidFill>
                <a:latin typeface="Arial"/>
              </a:rPr>
              <a:t>• A proteção de sobrecorrente da fonte atua imediatamente</a:t>
            </a:r>
            <a:endParaRPr/>
          </a:p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950">
                <a:solidFill>
                  <a:srgbClr val="232323"/>
                </a:solidFill>
                <a:latin typeface="Arial"/>
              </a:rPr>
              <a:t>• Telemetria aponta Sobrecorrente</a:t>
            </a:r>
            <a:endParaRPr/>
          </a:p>
          <a:p>
            <a:pPr>
              <a:lnSpc>
                <a:spcPct val="100000"/>
              </a:lnSpc>
              <a:spcAft>
                <a:spcPts val="150"/>
              </a:spcAft>
              <a:defRPr/>
            </a:pPr>
            <a:r>
              <a:rPr sz="950">
                <a:solidFill>
                  <a:srgbClr val="232323"/>
                </a:solidFill>
                <a:latin typeface="Arial"/>
              </a:rPr>
              <a:t>• O barramento da bateria colapsa após o disparo</a:t>
            </a:r>
            <a:endParaRPr/>
          </a:p>
        </p:txBody>
      </p:sp>
      <p:sp>
        <p:nvSpPr>
          <p:cNvPr id="979732463" name="Rectangle 17"/>
          <p:cNvSpPr/>
          <p:nvPr/>
        </p:nvSpPr>
        <p:spPr bwMode="auto">
          <a:xfrm>
            <a:off x="6492240" y="4187952"/>
            <a:ext cx="43891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7041246" name="Rectangle 18"/>
          <p:cNvSpPr/>
          <p:nvPr/>
        </p:nvSpPr>
        <p:spPr bwMode="auto">
          <a:xfrm>
            <a:off x="6492240" y="4187952"/>
            <a:ext cx="73152" cy="86868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6042265" name="TextBox 19"/>
          <p:cNvSpPr txBox="1"/>
          <p:nvPr/>
        </p:nvSpPr>
        <p:spPr bwMode="auto">
          <a:xfrm>
            <a:off x="6656831" y="4279392"/>
            <a:ext cx="41148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Conclusão Local</a:t>
            </a:r>
            <a:endParaRPr/>
          </a:p>
        </p:txBody>
      </p:sp>
      <p:sp>
        <p:nvSpPr>
          <p:cNvPr id="1309478678" name="TextBox 20"/>
          <p:cNvSpPr txBox="1"/>
          <p:nvPr/>
        </p:nvSpPr>
        <p:spPr bwMode="auto">
          <a:xfrm>
            <a:off x="6656831" y="4572000"/>
            <a:ext cx="411480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050" b="0" i="0">
                <a:solidFill>
                  <a:srgbClr val="232323"/>
                </a:solidFill>
                <a:latin typeface="Arial"/>
              </a:rPr>
              <a:t>Com circuito aberto, esse consumo não é nominal; há caminho de baixa impedância na potência.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445116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499019065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08991970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031494582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22</a:t>
            </a:r>
            <a:endParaRPr/>
          </a:p>
        </p:txBody>
      </p:sp>
      <p:sp>
        <p:nvSpPr>
          <p:cNvPr id="1251327315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Diagnóstico</a:t>
            </a:r>
            <a:endParaRPr/>
          </a:p>
        </p:txBody>
      </p:sp>
      <p:sp>
        <p:nvSpPr>
          <p:cNvPr id="1107445880" name="Rectangle 6"/>
          <p:cNvSpPr/>
          <p:nvPr/>
        </p:nvSpPr>
        <p:spPr bwMode="auto">
          <a:xfrm>
            <a:off x="594360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418871" name="Rectangle 7"/>
          <p:cNvSpPr/>
          <p:nvPr/>
        </p:nvSpPr>
        <p:spPr bwMode="auto">
          <a:xfrm>
            <a:off x="594360" y="2148840"/>
            <a:ext cx="73152" cy="141732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98049579" name="TextBox 8"/>
          <p:cNvSpPr txBox="1"/>
          <p:nvPr/>
        </p:nvSpPr>
        <p:spPr bwMode="auto">
          <a:xfrm>
            <a:off x="758952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B23939"/>
                </a:solidFill>
                <a:latin typeface="Arial"/>
              </a:rPr>
              <a:t>Sintoma</a:t>
            </a:r>
            <a:endParaRPr/>
          </a:p>
        </p:txBody>
      </p:sp>
      <p:sp>
        <p:nvSpPr>
          <p:cNvPr id="1413901172" name="TextBox 9"/>
          <p:cNvSpPr txBox="1"/>
          <p:nvPr/>
        </p:nvSpPr>
        <p:spPr bwMode="auto">
          <a:xfrm>
            <a:off x="758952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Proteção de sobrecorrente da fonte ao iniciar o alinhamento</a:t>
            </a:r>
            <a:endParaRPr/>
          </a:p>
        </p:txBody>
      </p:sp>
      <p:sp>
        <p:nvSpPr>
          <p:cNvPr id="2030999438" name="Rectangle 11"/>
          <p:cNvSpPr/>
          <p:nvPr/>
        </p:nvSpPr>
        <p:spPr bwMode="auto">
          <a:xfrm>
            <a:off x="3378708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2318380" name="Rectangle 12"/>
          <p:cNvSpPr/>
          <p:nvPr/>
        </p:nvSpPr>
        <p:spPr bwMode="auto">
          <a:xfrm>
            <a:off x="3378708" y="2148840"/>
            <a:ext cx="73152" cy="141732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6740756" name="TextBox 13"/>
          <p:cNvSpPr txBox="1"/>
          <p:nvPr/>
        </p:nvSpPr>
        <p:spPr bwMode="auto">
          <a:xfrm>
            <a:off x="3543300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C47020"/>
                </a:solidFill>
                <a:latin typeface="Arial"/>
              </a:rPr>
              <a:t>Mitigações</a:t>
            </a:r>
            <a:endParaRPr/>
          </a:p>
        </p:txBody>
      </p:sp>
      <p:sp>
        <p:nvSpPr>
          <p:cNvPr id="748986713" name="TextBox 14"/>
          <p:cNvSpPr txBox="1"/>
          <p:nvPr/>
        </p:nvSpPr>
        <p:spPr bwMode="auto">
          <a:xfrm>
            <a:off x="3543300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Saída AH corrigida, estado inicial seguro, ciclo ativo reduzido e rampa</a:t>
            </a:r>
            <a:endParaRPr/>
          </a:p>
        </p:txBody>
      </p:sp>
      <p:sp>
        <p:nvSpPr>
          <p:cNvPr id="67552284" name="Rectangle 16"/>
          <p:cNvSpPr/>
          <p:nvPr/>
        </p:nvSpPr>
        <p:spPr bwMode="auto">
          <a:xfrm>
            <a:off x="6163056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3422770" name="Rectangle 17"/>
          <p:cNvSpPr/>
          <p:nvPr/>
        </p:nvSpPr>
        <p:spPr bwMode="auto">
          <a:xfrm>
            <a:off x="6163056" y="214884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2256505" name="TextBox 18"/>
          <p:cNvSpPr txBox="1"/>
          <p:nvPr/>
        </p:nvSpPr>
        <p:spPr bwMode="auto">
          <a:xfrm>
            <a:off x="6327648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8080"/>
                </a:solidFill>
                <a:latin typeface="Arial"/>
              </a:rPr>
              <a:t>Teste isolado</a:t>
            </a:r>
            <a:endParaRPr/>
          </a:p>
        </p:txBody>
      </p:sp>
      <p:sp>
        <p:nvSpPr>
          <p:cNvPr id="769919897" name="TextBox 19"/>
          <p:cNvSpPr txBox="1"/>
          <p:nvPr/>
        </p:nvSpPr>
        <p:spPr bwMode="auto">
          <a:xfrm>
            <a:off x="6327648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fonte DC desligada, pulsos observados nos pinos</a:t>
            </a:r>
            <a:endParaRPr/>
          </a:p>
        </p:txBody>
      </p:sp>
      <p:sp>
        <p:nvSpPr>
          <p:cNvPr id="1219868229" name="Rectangle 21"/>
          <p:cNvSpPr/>
          <p:nvPr/>
        </p:nvSpPr>
        <p:spPr bwMode="auto">
          <a:xfrm>
            <a:off x="8947404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4071618" name="Rectangle 22"/>
          <p:cNvSpPr/>
          <p:nvPr/>
        </p:nvSpPr>
        <p:spPr bwMode="auto">
          <a:xfrm>
            <a:off x="8947404" y="2148840"/>
            <a:ext cx="73152" cy="141732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2458029" name="TextBox 23"/>
          <p:cNvSpPr txBox="1"/>
          <p:nvPr/>
        </p:nvSpPr>
        <p:spPr bwMode="auto">
          <a:xfrm>
            <a:off x="9111996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25825C"/>
                </a:solidFill>
                <a:latin typeface="Arial"/>
              </a:rPr>
              <a:t>Veredito</a:t>
            </a:r>
            <a:endParaRPr/>
          </a:p>
        </p:txBody>
      </p:sp>
      <p:sp>
        <p:nvSpPr>
          <p:cNvPr id="1639176033" name="TextBox 24"/>
          <p:cNvSpPr txBox="1"/>
          <p:nvPr/>
        </p:nvSpPr>
        <p:spPr bwMode="auto">
          <a:xfrm>
            <a:off x="9111996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curto lógico entre chaves descartado; falha estrutural na potência</a:t>
            </a:r>
            <a:endParaRPr/>
          </a:p>
        </p:txBody>
      </p:sp>
      <p:sp>
        <p:nvSpPr>
          <p:cNvPr id="639486510" name="Rectangle 25"/>
          <p:cNvSpPr/>
          <p:nvPr/>
        </p:nvSpPr>
        <p:spPr bwMode="auto">
          <a:xfrm>
            <a:off x="914400" y="4160519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8639938" name="Rectangle 26"/>
          <p:cNvSpPr/>
          <p:nvPr/>
        </p:nvSpPr>
        <p:spPr bwMode="auto">
          <a:xfrm>
            <a:off x="914400" y="4160519"/>
            <a:ext cx="73152" cy="96012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92294764" name="TextBox 27"/>
          <p:cNvSpPr txBox="1"/>
          <p:nvPr/>
        </p:nvSpPr>
        <p:spPr bwMode="auto">
          <a:xfrm>
            <a:off x="1078992" y="4251959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B23939"/>
                </a:solidFill>
                <a:latin typeface="Arial"/>
              </a:rPr>
              <a:t>Hipóteses restantes</a:t>
            </a:r>
            <a:endParaRPr/>
          </a:p>
        </p:txBody>
      </p:sp>
      <p:sp>
        <p:nvSpPr>
          <p:cNvPr id="1550886898" name="TextBox 28"/>
          <p:cNvSpPr txBox="1"/>
          <p:nvPr/>
        </p:nvSpPr>
        <p:spPr bwMode="auto">
          <a:xfrm>
            <a:off x="1078992" y="4535424"/>
            <a:ext cx="4572000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400">
                <a:solidFill>
                  <a:srgbClr val="232323"/>
                </a:solidFill>
                <a:latin typeface="Arial"/>
              </a:rPr>
              <a:t>• degradação dos transistores de potência</a:t>
            </a:r>
            <a:endParaRPr sz="2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400">
                <a:solidFill>
                  <a:srgbClr val="232323"/>
                </a:solidFill>
                <a:latin typeface="Arial"/>
              </a:rPr>
              <a:t>• ponte resistiva na montagem</a:t>
            </a:r>
            <a:endParaRPr sz="24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400">
                <a:solidFill>
                  <a:srgbClr val="232323"/>
                </a:solidFill>
                <a:latin typeface="Arial"/>
              </a:rPr>
              <a:t>• intercondução física/parasitária</a:t>
            </a:r>
            <a:endParaRPr sz="2400"/>
          </a:p>
        </p:txBody>
      </p:sp>
      <p:sp>
        <p:nvSpPr>
          <p:cNvPr id="766071173" name="Rectangle 29"/>
          <p:cNvSpPr/>
          <p:nvPr/>
        </p:nvSpPr>
        <p:spPr bwMode="auto">
          <a:xfrm>
            <a:off x="6263640" y="4160519"/>
            <a:ext cx="4846320" cy="9601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18081470" name="Rectangle 30"/>
          <p:cNvSpPr/>
          <p:nvPr/>
        </p:nvSpPr>
        <p:spPr bwMode="auto">
          <a:xfrm>
            <a:off x="6263640" y="4160519"/>
            <a:ext cx="73152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4299949" name="TextBox 31"/>
          <p:cNvSpPr txBox="1"/>
          <p:nvPr/>
        </p:nvSpPr>
        <p:spPr bwMode="auto">
          <a:xfrm>
            <a:off x="6428231" y="4251959"/>
            <a:ext cx="4572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555555"/>
                </a:solidFill>
                <a:latin typeface="Arial"/>
              </a:rPr>
              <a:t>Não executado por prazo</a:t>
            </a:r>
            <a:endParaRPr/>
          </a:p>
        </p:txBody>
      </p:sp>
      <p:sp>
        <p:nvSpPr>
          <p:cNvPr id="1586052290" name="TextBox 32"/>
          <p:cNvSpPr txBox="1"/>
          <p:nvPr/>
        </p:nvSpPr>
        <p:spPr bwMode="auto">
          <a:xfrm>
            <a:off x="6428231" y="4535424"/>
            <a:ext cx="4572000" cy="5394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25000" lnSpcReduction="15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3600">
                <a:solidFill>
                  <a:srgbClr val="232323"/>
                </a:solidFill>
                <a:latin typeface="Arial"/>
              </a:rPr>
              <a:t>• medição dreno-fonte completa</a:t>
            </a:r>
            <a:endParaRPr sz="3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3600">
                <a:solidFill>
                  <a:srgbClr val="232323"/>
                </a:solidFill>
                <a:latin typeface="Arial"/>
              </a:rPr>
              <a:t>• inspeção óptica detalhada da ponte</a:t>
            </a:r>
            <a:endParaRPr sz="3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3600">
                <a:solidFill>
                  <a:srgbClr val="232323"/>
                </a:solidFill>
                <a:latin typeface="Arial"/>
              </a:rPr>
              <a:t>• substituição de semicondutores</a:t>
            </a:r>
            <a:endParaRPr sz="3600"/>
          </a:p>
        </p:txBody>
      </p:sp>
      <p:sp>
        <p:nvSpPr>
          <p:cNvPr id="588187825" name="TextBox 10"/>
          <p:cNvSpPr txBox="1"/>
          <p:nvPr/>
        </p:nvSpPr>
        <p:spPr bwMode="auto">
          <a:xfrm flipH="0" flipV="0">
            <a:off x="2964619" y="270861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706226561" name="TextBox 10"/>
          <p:cNvSpPr txBox="1"/>
          <p:nvPr/>
        </p:nvSpPr>
        <p:spPr bwMode="auto">
          <a:xfrm flipH="0" flipV="0">
            <a:off x="5758112" y="2708613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643636241" name="TextBox 10"/>
          <p:cNvSpPr txBox="1"/>
          <p:nvPr/>
        </p:nvSpPr>
        <p:spPr bwMode="auto">
          <a:xfrm flipH="0" flipV="0">
            <a:off x="8493472" y="2674620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4976257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440494868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26938813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731490766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23</a:t>
            </a:r>
            <a:endParaRPr/>
          </a:p>
        </p:txBody>
      </p:sp>
      <p:sp>
        <p:nvSpPr>
          <p:cNvPr id="1830034884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Resultados e Limitações</a:t>
            </a:r>
            <a:endParaRPr/>
          </a:p>
        </p:txBody>
      </p:sp>
      <p:sp>
        <p:nvSpPr>
          <p:cNvPr id="1812655091" name="Rectangle 6"/>
          <p:cNvSpPr/>
          <p:nvPr/>
        </p:nvSpPr>
        <p:spPr bwMode="auto">
          <a:xfrm>
            <a:off x="685800" y="1993392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1653619" name="Rectangle 7"/>
          <p:cNvSpPr/>
          <p:nvPr/>
        </p:nvSpPr>
        <p:spPr bwMode="auto">
          <a:xfrm>
            <a:off x="685800" y="1993392"/>
            <a:ext cx="73152" cy="118872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74633408" name="TextBox 8"/>
          <p:cNvSpPr txBox="1"/>
          <p:nvPr/>
        </p:nvSpPr>
        <p:spPr bwMode="auto">
          <a:xfrm>
            <a:off x="850392" y="2084832"/>
            <a:ext cx="49834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25825C"/>
                </a:solidFill>
                <a:latin typeface="Arial"/>
              </a:rPr>
              <a:t>Resultados consolidadas</a:t>
            </a:r>
            <a:endParaRPr/>
          </a:p>
        </p:txBody>
      </p:sp>
      <p:sp>
        <p:nvSpPr>
          <p:cNvPr id="184489038" name="TextBox 9"/>
          <p:cNvSpPr txBox="1"/>
          <p:nvPr/>
        </p:nvSpPr>
        <p:spPr bwMode="auto">
          <a:xfrm>
            <a:off x="850392" y="2368296"/>
            <a:ext cx="4983480" cy="7680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55000" lnSpcReduction="9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800">
                <a:solidFill>
                  <a:srgbClr val="232323"/>
                </a:solidFill>
                <a:latin typeface="Arial"/>
              </a:rPr>
              <a:t>• Dimensionamento de potência e controle</a:t>
            </a:r>
            <a:endParaRPr sz="18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800">
                <a:solidFill>
                  <a:srgbClr val="232323"/>
                </a:solidFill>
                <a:latin typeface="Arial"/>
              </a:rPr>
              <a:t>• Simulação LTSpice</a:t>
            </a:r>
            <a:endParaRPr sz="18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800">
                <a:solidFill>
                  <a:srgbClr val="232323"/>
                </a:solidFill>
                <a:latin typeface="Arial"/>
              </a:rPr>
              <a:t>• Placa e protótipo físico</a:t>
            </a:r>
            <a:endParaRPr sz="18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800">
                <a:solidFill>
                  <a:srgbClr val="232323"/>
                </a:solidFill>
                <a:latin typeface="Arial"/>
              </a:rPr>
              <a:t>• Código modular com proteções</a:t>
            </a:r>
            <a:endParaRPr sz="1800"/>
          </a:p>
        </p:txBody>
      </p:sp>
      <p:sp>
        <p:nvSpPr>
          <p:cNvPr id="381240659" name="Rectangle 14"/>
          <p:cNvSpPr/>
          <p:nvPr/>
        </p:nvSpPr>
        <p:spPr bwMode="auto">
          <a:xfrm>
            <a:off x="685800" y="3456432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253583" name="Rectangle 15"/>
          <p:cNvSpPr/>
          <p:nvPr/>
        </p:nvSpPr>
        <p:spPr bwMode="auto">
          <a:xfrm>
            <a:off x="685800" y="3456432"/>
            <a:ext cx="73152" cy="118872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91916861" name="TextBox 16"/>
          <p:cNvSpPr txBox="1"/>
          <p:nvPr/>
        </p:nvSpPr>
        <p:spPr bwMode="auto">
          <a:xfrm>
            <a:off x="850392" y="3547872"/>
            <a:ext cx="49834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B23939"/>
                </a:solidFill>
                <a:latin typeface="Arial"/>
              </a:rPr>
              <a:t>Limite prático</a:t>
            </a:r>
            <a:endParaRPr/>
          </a:p>
        </p:txBody>
      </p:sp>
      <p:sp>
        <p:nvSpPr>
          <p:cNvPr id="422681173" name="TextBox 17"/>
          <p:cNvSpPr txBox="1"/>
          <p:nvPr/>
        </p:nvSpPr>
        <p:spPr bwMode="auto">
          <a:xfrm>
            <a:off x="850392" y="3831335"/>
            <a:ext cx="4983480" cy="7680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40000" lnSpcReduction="12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3600">
                <a:solidFill>
                  <a:srgbClr val="232323"/>
                </a:solidFill>
                <a:latin typeface="Arial"/>
              </a:rPr>
              <a:t>• Falha estrutural no estágio de potência</a:t>
            </a:r>
            <a:endParaRPr sz="3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3600">
                <a:solidFill>
                  <a:srgbClr val="232323"/>
                </a:solidFill>
                <a:latin typeface="Arial"/>
              </a:rPr>
              <a:t>• Ensaio dinâmico com motor interrompido</a:t>
            </a:r>
            <a:endParaRPr sz="3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3600">
                <a:solidFill>
                  <a:srgbClr val="232323"/>
                </a:solidFill>
                <a:latin typeface="Arial"/>
              </a:rPr>
              <a:t>• Passagem por zero não validada em rotação</a:t>
            </a:r>
            <a:endParaRPr sz="3600"/>
          </a:p>
        </p:txBody>
      </p:sp>
      <p:sp>
        <p:nvSpPr>
          <p:cNvPr id="1502418932" name="Rectangle 18"/>
          <p:cNvSpPr/>
          <p:nvPr/>
        </p:nvSpPr>
        <p:spPr bwMode="auto">
          <a:xfrm flipH="0" flipV="0">
            <a:off x="685799" y="4937760"/>
            <a:ext cx="5257800" cy="11887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1713661" name="Rectangle 19"/>
          <p:cNvSpPr/>
          <p:nvPr/>
        </p:nvSpPr>
        <p:spPr bwMode="auto">
          <a:xfrm>
            <a:off x="685799" y="4937760"/>
            <a:ext cx="73152" cy="118872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22291598" name="TextBox 20"/>
          <p:cNvSpPr txBox="1"/>
          <p:nvPr/>
        </p:nvSpPr>
        <p:spPr bwMode="auto">
          <a:xfrm>
            <a:off x="850391" y="5029200"/>
            <a:ext cx="475488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Valor técnico</a:t>
            </a:r>
            <a:endParaRPr/>
          </a:p>
        </p:txBody>
      </p:sp>
      <p:sp>
        <p:nvSpPr>
          <p:cNvPr id="1454618676" name="TextBox 21"/>
          <p:cNvSpPr txBox="1"/>
          <p:nvPr/>
        </p:nvSpPr>
        <p:spPr bwMode="auto">
          <a:xfrm>
            <a:off x="850391" y="5312662"/>
            <a:ext cx="4754880" cy="768096"/>
          </a:xfrm>
          <a:prstGeom prst="rect">
            <a:avLst/>
          </a:prstGeom>
          <a:noFill/>
        </p:spPr>
        <p:txBody>
          <a:bodyPr vertOverflow="overflow" horzOverflow="overflow" vert="horz" wrap="square" lIns="73152" tIns="27432" rIns="45720" bIns="27432" numCol="1" spcCol="0" rtlCol="0" fromWordArt="0" anchor="t" anchorCtr="0" forceAA="0" upright="0" compatLnSpc="0">
            <a:normAutofit fontScale="55000" lnSpcReduction="9000"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600">
                <a:solidFill>
                  <a:srgbClr val="232323"/>
                </a:solidFill>
                <a:latin typeface="Arial"/>
              </a:rPr>
              <a:t>• Separação clara entre lógica e potência</a:t>
            </a:r>
            <a:endParaRPr sz="2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600">
                <a:solidFill>
                  <a:srgbClr val="232323"/>
                </a:solidFill>
                <a:latin typeface="Arial"/>
              </a:rPr>
              <a:t>• Diagnóstico reprodutível</a:t>
            </a:r>
            <a:endParaRPr sz="2600"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2600">
                <a:solidFill>
                  <a:srgbClr val="232323"/>
                </a:solidFill>
                <a:latin typeface="Arial"/>
              </a:rPr>
              <a:t>• Base documentada para próxima iteração</a:t>
            </a:r>
            <a:endParaRPr sz="2600"/>
          </a:p>
        </p:txBody>
      </p:sp>
      <p:sp>
        <p:nvSpPr>
          <p:cNvPr id="1277332388" name="TextBox 22"/>
          <p:cNvSpPr txBox="1"/>
          <p:nvPr/>
        </p:nvSpPr>
        <p:spPr bwMode="auto">
          <a:xfrm flipH="0" flipV="0">
            <a:off x="6328945" y="3739896"/>
            <a:ext cx="5863053" cy="384048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 fontScale="70000" lnSpcReduction="6000"/>
          </a:bodyPr>
          <a:lstStyle/>
          <a:p>
            <a:pPr algn="ctr">
              <a:defRPr/>
            </a:pPr>
            <a:r>
              <a:rPr sz="2000" b="1" i="0">
                <a:solidFill>
                  <a:srgbClr val="003769"/>
                </a:solidFill>
                <a:latin typeface="Arial"/>
              </a:rPr>
              <a:t>Objetivo geral: parcialmente atingido, com maturidade </a:t>
            </a:r>
            <a:endParaRPr sz="2000" b="1" i="0">
              <a:solidFill>
                <a:srgbClr val="003769"/>
              </a:solidFill>
              <a:latin typeface="Arial"/>
            </a:endParaRPr>
          </a:p>
          <a:p>
            <a:pPr algn="ctr">
              <a:defRPr/>
            </a:pPr>
            <a:r>
              <a:rPr sz="2000" b="1" i="0">
                <a:solidFill>
                  <a:srgbClr val="003769"/>
                </a:solidFill>
                <a:latin typeface="Arial"/>
              </a:rPr>
              <a:t>arquitetural </a:t>
            </a:r>
            <a:r>
              <a:rPr sz="2000" b="1" i="0">
                <a:solidFill>
                  <a:srgbClr val="003769"/>
                </a:solidFill>
                <a:latin typeface="Arial"/>
              </a:rPr>
              <a:t>e diagnóstico técnico do gargalo físico.</a:t>
            </a:r>
            <a:endParaRPr sz="1600" b="1" i="0">
              <a:solidFill>
                <a:srgbClr val="003769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2864798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450744261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6921965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22228573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24</a:t>
            </a:r>
            <a:endParaRPr/>
          </a:p>
        </p:txBody>
      </p:sp>
      <p:sp>
        <p:nvSpPr>
          <p:cNvPr id="574600257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Próximos Passos</a:t>
            </a:r>
            <a:endParaRPr/>
          </a:p>
        </p:txBody>
      </p:sp>
      <p:sp>
        <p:nvSpPr>
          <p:cNvPr id="121459027" name="Rectangle 6"/>
          <p:cNvSpPr/>
          <p:nvPr/>
        </p:nvSpPr>
        <p:spPr bwMode="auto">
          <a:xfrm>
            <a:off x="594360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2800427" name="Rectangle 7"/>
          <p:cNvSpPr/>
          <p:nvPr/>
        </p:nvSpPr>
        <p:spPr bwMode="auto">
          <a:xfrm>
            <a:off x="594360" y="2148840"/>
            <a:ext cx="73152" cy="1417320"/>
          </a:xfrm>
          <a:prstGeom prst="rect">
            <a:avLst/>
          </a:prstGeom>
          <a:solidFill>
            <a:srgbClr val="B239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37264259" name="TextBox 8"/>
          <p:cNvSpPr txBox="1"/>
          <p:nvPr/>
        </p:nvSpPr>
        <p:spPr bwMode="auto">
          <a:xfrm>
            <a:off x="758952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B23939"/>
                </a:solidFill>
                <a:latin typeface="Arial"/>
              </a:rPr>
              <a:t>Potência</a:t>
            </a:r>
            <a:endParaRPr/>
          </a:p>
        </p:txBody>
      </p:sp>
      <p:sp>
        <p:nvSpPr>
          <p:cNvPr id="82358993" name="TextBox 9"/>
          <p:cNvSpPr txBox="1"/>
          <p:nvPr/>
        </p:nvSpPr>
        <p:spPr bwMode="auto">
          <a:xfrm>
            <a:off x="758952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lang="pt-BR" sz="1100" b="0" i="0" u="none" strike="noStrike" cap="none" spc="0">
                <a:solidFill>
                  <a:srgbClr val="232323"/>
                </a:solidFill>
                <a:latin typeface="Arial"/>
                <a:ea typeface="Arial"/>
                <a:cs typeface="Arial"/>
              </a:rPr>
              <a:t>Snubbers, TVS, revisão D-S e proteção contra transientes</a:t>
            </a:r>
            <a:endParaRPr sz="1100"/>
          </a:p>
          <a:p>
            <a:pPr>
              <a:defRPr/>
            </a:pPr>
            <a:endParaRPr/>
          </a:p>
        </p:txBody>
      </p:sp>
      <p:sp>
        <p:nvSpPr>
          <p:cNvPr id="154824345" name="Rectangle 11"/>
          <p:cNvSpPr/>
          <p:nvPr/>
        </p:nvSpPr>
        <p:spPr bwMode="auto">
          <a:xfrm>
            <a:off x="3378708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3350301" name="Rectangle 12"/>
          <p:cNvSpPr/>
          <p:nvPr/>
        </p:nvSpPr>
        <p:spPr bwMode="auto">
          <a:xfrm>
            <a:off x="3378708" y="2148840"/>
            <a:ext cx="73152" cy="141732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5109329" name="TextBox 13"/>
          <p:cNvSpPr txBox="1"/>
          <p:nvPr/>
        </p:nvSpPr>
        <p:spPr bwMode="auto">
          <a:xfrm>
            <a:off x="3543300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C47020"/>
                </a:solidFill>
                <a:latin typeface="Arial"/>
              </a:rPr>
              <a:t>Acionadores</a:t>
            </a:r>
            <a:endParaRPr/>
          </a:p>
        </p:txBody>
      </p:sp>
      <p:sp>
        <p:nvSpPr>
          <p:cNvPr id="1143849761" name="TextBox 14"/>
          <p:cNvSpPr txBox="1"/>
          <p:nvPr/>
        </p:nvSpPr>
        <p:spPr bwMode="auto">
          <a:xfrm>
            <a:off x="3543300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Migrar de Drivers discretos para acionador trifásico inteligente</a:t>
            </a:r>
            <a:endParaRPr/>
          </a:p>
        </p:txBody>
      </p:sp>
      <p:sp>
        <p:nvSpPr>
          <p:cNvPr id="1839657194" name="Rectangle 16"/>
          <p:cNvSpPr/>
          <p:nvPr/>
        </p:nvSpPr>
        <p:spPr bwMode="auto">
          <a:xfrm>
            <a:off x="6163056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3330407" name="Rectangle 17"/>
          <p:cNvSpPr/>
          <p:nvPr/>
        </p:nvSpPr>
        <p:spPr bwMode="auto">
          <a:xfrm>
            <a:off x="6163056" y="2148840"/>
            <a:ext cx="731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1625242" name="TextBox 18"/>
          <p:cNvSpPr txBox="1"/>
          <p:nvPr/>
        </p:nvSpPr>
        <p:spPr bwMode="auto">
          <a:xfrm>
            <a:off x="6327648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8080"/>
                </a:solidFill>
                <a:latin typeface="Arial"/>
              </a:rPr>
              <a:t>Placa</a:t>
            </a:r>
            <a:endParaRPr/>
          </a:p>
        </p:txBody>
      </p:sp>
      <p:sp>
        <p:nvSpPr>
          <p:cNvPr id="2086001811" name="TextBox 19"/>
          <p:cNvSpPr txBox="1"/>
          <p:nvPr/>
        </p:nvSpPr>
        <p:spPr bwMode="auto">
          <a:xfrm>
            <a:off x="6327648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SMD, multicamadas, menor indutância e máscara de solda</a:t>
            </a:r>
            <a:endParaRPr/>
          </a:p>
        </p:txBody>
      </p:sp>
      <p:sp>
        <p:nvSpPr>
          <p:cNvPr id="1188506987" name="Rectangle 21"/>
          <p:cNvSpPr/>
          <p:nvPr/>
        </p:nvSpPr>
        <p:spPr bwMode="auto">
          <a:xfrm>
            <a:off x="8947404" y="2148840"/>
            <a:ext cx="2619756" cy="141732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4188266" name="Rectangle 22"/>
          <p:cNvSpPr/>
          <p:nvPr/>
        </p:nvSpPr>
        <p:spPr bwMode="auto">
          <a:xfrm>
            <a:off x="8947404" y="2148840"/>
            <a:ext cx="73152" cy="141732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0180043" name="TextBox 23"/>
          <p:cNvSpPr txBox="1"/>
          <p:nvPr/>
        </p:nvSpPr>
        <p:spPr bwMode="auto">
          <a:xfrm>
            <a:off x="9111996" y="2240280"/>
            <a:ext cx="2345436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350" b="1" i="0">
                <a:solidFill>
                  <a:srgbClr val="00568C"/>
                </a:solidFill>
                <a:latin typeface="Arial"/>
              </a:rPr>
              <a:t>Controle</a:t>
            </a:r>
            <a:endParaRPr/>
          </a:p>
        </p:txBody>
      </p:sp>
      <p:sp>
        <p:nvSpPr>
          <p:cNvPr id="879489594" name="TextBox 24"/>
          <p:cNvSpPr txBox="1"/>
          <p:nvPr/>
        </p:nvSpPr>
        <p:spPr bwMode="auto">
          <a:xfrm>
            <a:off x="9111996" y="2532888"/>
            <a:ext cx="2345436" cy="97840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100" b="0" i="0">
                <a:solidFill>
                  <a:srgbClr val="232323"/>
                </a:solidFill>
                <a:latin typeface="Arial"/>
              </a:rPr>
              <a:t>Validar passagem por zero, depois estudar controle vetorial e barramento CAN</a:t>
            </a:r>
            <a:endParaRPr/>
          </a:p>
        </p:txBody>
      </p:sp>
      <p:sp>
        <p:nvSpPr>
          <p:cNvPr id="1576059763" name="TextBox 25"/>
          <p:cNvSpPr txBox="1"/>
          <p:nvPr/>
        </p:nvSpPr>
        <p:spPr bwMode="auto">
          <a:xfrm>
            <a:off x="914400" y="4251960"/>
            <a:ext cx="10241280" cy="685800"/>
          </a:xfrm>
          <a:prstGeom prst="rect">
            <a:avLst/>
          </a:prstGeom>
          <a:noFill/>
        </p:spPr>
        <p:txBody>
          <a:bodyPr wrap="square" lIns="73152" tIns="27432" rIns="45720" bIns="27432">
            <a:norm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550">
                <a:solidFill>
                  <a:srgbClr val="232323"/>
                </a:solidFill>
                <a:latin typeface="Arial"/>
              </a:rPr>
              <a:t>• A próxima placa deve atacar primeiro o caminho físico de potência.</a:t>
            </a:r>
            <a:endParaRPr/>
          </a:p>
          <a:p>
            <a:pPr>
              <a:lnSpc>
                <a:spcPct val="100000"/>
              </a:lnSpc>
              <a:spcAft>
                <a:spcPts val="300"/>
              </a:spcAft>
              <a:defRPr/>
            </a:pPr>
            <a:r>
              <a:rPr sz="1550">
                <a:solidFill>
                  <a:srgbClr val="232323"/>
                </a:solidFill>
                <a:latin typeface="Arial"/>
              </a:rPr>
              <a:t>• Com a ponte estabilizada, o firmware já tem base para fechar a malha sem sensores.</a:t>
            </a:r>
            <a:endParaRPr/>
          </a:p>
        </p:txBody>
      </p:sp>
      <p:sp>
        <p:nvSpPr>
          <p:cNvPr id="1281804151" name="TextBox 10"/>
          <p:cNvSpPr txBox="1"/>
          <p:nvPr/>
        </p:nvSpPr>
        <p:spPr bwMode="auto">
          <a:xfrm flipH="0" flipV="0">
            <a:off x="2964619" y="2674620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917371259" name="TextBox 10"/>
          <p:cNvSpPr txBox="1"/>
          <p:nvPr/>
        </p:nvSpPr>
        <p:spPr bwMode="auto">
          <a:xfrm flipH="0" flipV="0">
            <a:off x="5748968" y="2674620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  <p:sp>
        <p:nvSpPr>
          <p:cNvPr id="89582274" name="TextBox 10"/>
          <p:cNvSpPr txBox="1"/>
          <p:nvPr/>
        </p:nvSpPr>
        <p:spPr bwMode="auto">
          <a:xfrm flipH="0" flipV="0">
            <a:off x="8533316" y="2690325"/>
            <a:ext cx="578678" cy="334347"/>
          </a:xfrm>
          <a:prstGeom prst="rect">
            <a:avLst/>
          </a:prstGeom>
          <a:noFill/>
        </p:spPr>
        <p:txBody>
          <a:bodyPr vertOverflow="overflow" horzOverflow="overflow" vert="horz" wrap="square" lIns="27432" tIns="18288" rIns="27432" bIns="18288" numCol="1" spcCol="0" rtlCol="0" fromWordArt="0" anchor="t" anchorCtr="0" forceAA="0" upright="0" compatLnSpc="0">
            <a:normAutofit/>
          </a:bodyPr>
          <a:lstStyle/>
          <a:p>
            <a:pPr algn="ctr">
              <a:defRPr/>
            </a:pPr>
            <a:r>
              <a:rPr sz="1700" b="0" i="0">
                <a:solidFill>
                  <a:srgbClr val="555555"/>
                </a:solidFill>
                <a:latin typeface="Arial"/>
              </a:rPr>
              <a:t>→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0037346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1369809888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3434871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540876275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25</a:t>
            </a:r>
            <a:endParaRPr/>
          </a:p>
        </p:txBody>
      </p:sp>
      <p:sp>
        <p:nvSpPr>
          <p:cNvPr id="1914146784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Conclusão</a:t>
            </a:r>
            <a:endParaRPr/>
          </a:p>
        </p:txBody>
      </p:sp>
      <p:sp>
        <p:nvSpPr>
          <p:cNvPr id="169696569" name="Rectangle 6"/>
          <p:cNvSpPr/>
          <p:nvPr/>
        </p:nvSpPr>
        <p:spPr bwMode="auto">
          <a:xfrm>
            <a:off x="731520" y="2057400"/>
            <a:ext cx="105613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98096666" name="Rectangle 7"/>
          <p:cNvSpPr/>
          <p:nvPr/>
        </p:nvSpPr>
        <p:spPr bwMode="auto">
          <a:xfrm>
            <a:off x="731520" y="2057400"/>
            <a:ext cx="73152" cy="868680"/>
          </a:xfrm>
          <a:prstGeom prst="rect">
            <a:avLst/>
          </a:prstGeom>
          <a:solidFill>
            <a:srgbClr val="005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536340" name="TextBox 8"/>
          <p:cNvSpPr txBox="1"/>
          <p:nvPr/>
        </p:nvSpPr>
        <p:spPr bwMode="auto">
          <a:xfrm>
            <a:off x="896112" y="2148840"/>
            <a:ext cx="10287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00568C"/>
                </a:solidFill>
                <a:latin typeface="Arial"/>
              </a:rPr>
              <a:t>Síntese</a:t>
            </a:r>
            <a:endParaRPr/>
          </a:p>
        </p:txBody>
      </p:sp>
      <p:sp>
        <p:nvSpPr>
          <p:cNvPr id="599933614" name="TextBox 9"/>
          <p:cNvSpPr txBox="1"/>
          <p:nvPr/>
        </p:nvSpPr>
        <p:spPr bwMode="auto">
          <a:xfrm>
            <a:off x="896112" y="2441448"/>
            <a:ext cx="1028700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500" b="0" i="0">
                <a:solidFill>
                  <a:srgbClr val="232323"/>
                </a:solidFill>
                <a:latin typeface="Arial"/>
              </a:rPr>
              <a:t>O trabalho entrega uma plataforma arquitetural sólida para um controlador de motor brushless com ESP32, abrangendo teoria, simulação, projeto eletrônico, firmware, protótipo e bancada.</a:t>
            </a:r>
            <a:endParaRPr/>
          </a:p>
        </p:txBody>
      </p:sp>
      <p:sp>
        <p:nvSpPr>
          <p:cNvPr id="739283617" name="Rectangle 10"/>
          <p:cNvSpPr/>
          <p:nvPr/>
        </p:nvSpPr>
        <p:spPr bwMode="auto">
          <a:xfrm>
            <a:off x="731520" y="3200400"/>
            <a:ext cx="105613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50608320" name="Rectangle 11"/>
          <p:cNvSpPr/>
          <p:nvPr/>
        </p:nvSpPr>
        <p:spPr bwMode="auto">
          <a:xfrm>
            <a:off x="731520" y="3200400"/>
            <a:ext cx="73152" cy="868680"/>
          </a:xfrm>
          <a:prstGeom prst="rect">
            <a:avLst/>
          </a:prstGeom>
          <a:solidFill>
            <a:srgbClr val="C4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79150343" name="TextBox 12"/>
          <p:cNvSpPr txBox="1"/>
          <p:nvPr/>
        </p:nvSpPr>
        <p:spPr bwMode="auto">
          <a:xfrm>
            <a:off x="896112" y="3291840"/>
            <a:ext cx="10287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C47020"/>
                </a:solidFill>
                <a:latin typeface="Arial"/>
              </a:rPr>
              <a:t>Resultado crítico</a:t>
            </a:r>
            <a:endParaRPr/>
          </a:p>
        </p:txBody>
      </p:sp>
      <p:sp>
        <p:nvSpPr>
          <p:cNvPr id="684268567" name="TextBox 13"/>
          <p:cNvSpPr txBox="1"/>
          <p:nvPr/>
        </p:nvSpPr>
        <p:spPr bwMode="auto">
          <a:xfrm>
            <a:off x="896112" y="3584448"/>
            <a:ext cx="1028700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500" b="0" i="0">
                <a:solidFill>
                  <a:srgbClr val="232323"/>
                </a:solidFill>
                <a:latin typeface="Arial"/>
              </a:rPr>
              <a:t>A validação dinâmica foi interrompida por falha física no estágio de potência, não por ausência de lógica de controle ou falta de arquitetura de software.</a:t>
            </a:r>
            <a:endParaRPr/>
          </a:p>
        </p:txBody>
      </p:sp>
      <p:sp>
        <p:nvSpPr>
          <p:cNvPr id="428791429" name="Rectangle 14"/>
          <p:cNvSpPr/>
          <p:nvPr/>
        </p:nvSpPr>
        <p:spPr bwMode="auto">
          <a:xfrm>
            <a:off x="731520" y="4343400"/>
            <a:ext cx="10561320" cy="868680"/>
          </a:xfrm>
          <a:prstGeom prst="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61526148" name="Rectangle 15"/>
          <p:cNvSpPr/>
          <p:nvPr/>
        </p:nvSpPr>
        <p:spPr bwMode="auto">
          <a:xfrm>
            <a:off x="731520" y="4343400"/>
            <a:ext cx="73152" cy="868680"/>
          </a:xfrm>
          <a:prstGeom prst="rect">
            <a:avLst/>
          </a:prstGeom>
          <a:solidFill>
            <a:srgbClr val="25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62106268" name="TextBox 16"/>
          <p:cNvSpPr txBox="1"/>
          <p:nvPr/>
        </p:nvSpPr>
        <p:spPr bwMode="auto">
          <a:xfrm>
            <a:off x="896112" y="4434840"/>
            <a:ext cx="10287000" cy="237744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400" b="1" i="0">
                <a:solidFill>
                  <a:srgbClr val="25825C"/>
                </a:solidFill>
                <a:latin typeface="Arial"/>
              </a:rPr>
              <a:t>Contribuição</a:t>
            </a:r>
            <a:endParaRPr/>
          </a:p>
        </p:txBody>
      </p:sp>
      <p:sp>
        <p:nvSpPr>
          <p:cNvPr id="556521183" name="TextBox 17"/>
          <p:cNvSpPr txBox="1"/>
          <p:nvPr/>
        </p:nvSpPr>
        <p:spPr bwMode="auto">
          <a:xfrm>
            <a:off x="896112" y="4727448"/>
            <a:ext cx="10287000" cy="4297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1500" b="0" i="0">
                <a:solidFill>
                  <a:srgbClr val="232323"/>
                </a:solidFill>
                <a:latin typeface="Arial"/>
              </a:rPr>
              <a:t>O projeto não se encerra em uma falha de bancada: ele documenta um caminho técnico para a próxima iteração de controlador embarcado.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8609934" name="Picture 1" descr="image1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-18288"/>
            <a:ext cx="12192000" cy="1490472"/>
          </a:xfrm>
          <a:prstGeom prst="rect">
            <a:avLst/>
          </a:prstGeom>
        </p:spPr>
      </p:pic>
      <p:sp>
        <p:nvSpPr>
          <p:cNvPr id="841489177" name="Rectangle 2"/>
          <p:cNvSpPr/>
          <p:nvPr/>
        </p:nvSpPr>
        <p:spPr bwMode="auto">
          <a:xfrm>
            <a:off x="0" y="6601968"/>
            <a:ext cx="12192000" cy="256032"/>
          </a:xfrm>
          <a:prstGeom prst="rect">
            <a:avLst/>
          </a:prstGeom>
          <a:solidFill>
            <a:srgbClr val="006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21228194" name="TextBox 3"/>
          <p:cNvSpPr txBox="1"/>
          <p:nvPr/>
        </p:nvSpPr>
        <p:spPr bwMode="auto">
          <a:xfrm>
            <a:off x="502920" y="6629400"/>
            <a:ext cx="777240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850" b="0" i="0">
                <a:solidFill>
                  <a:srgbClr val="FFFFFF"/>
                </a:solidFill>
                <a:latin typeface="Arial"/>
              </a:rPr>
              <a:t>TG Engenharia Elétrica | Enzo Luiz Fernandes | 2026</a:t>
            </a:r>
            <a:endParaRPr/>
          </a:p>
        </p:txBody>
      </p:sp>
      <p:sp>
        <p:nvSpPr>
          <p:cNvPr id="1923034240" name="TextBox 4"/>
          <p:cNvSpPr txBox="1"/>
          <p:nvPr/>
        </p:nvSpPr>
        <p:spPr bwMode="auto">
          <a:xfrm>
            <a:off x="10927079" y="6620255"/>
            <a:ext cx="685800" cy="1828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r">
              <a:defRPr/>
            </a:pPr>
            <a:r>
              <a:rPr sz="900" b="0" i="0">
                <a:solidFill>
                  <a:srgbClr val="FFFFFF"/>
                </a:solidFill>
                <a:latin typeface="Arial"/>
              </a:rPr>
              <a:t>26</a:t>
            </a:r>
            <a:endParaRPr/>
          </a:p>
        </p:txBody>
      </p:sp>
      <p:sp>
        <p:nvSpPr>
          <p:cNvPr id="261580066" name="TextBox 5"/>
          <p:cNvSpPr txBox="1"/>
          <p:nvPr/>
        </p:nvSpPr>
        <p:spPr bwMode="auto">
          <a:xfrm>
            <a:off x="502920" y="1444752"/>
            <a:ext cx="10789920" cy="384048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l">
              <a:defRPr/>
            </a:pPr>
            <a:r>
              <a:rPr sz="2400" b="1" i="0">
                <a:solidFill>
                  <a:srgbClr val="003769"/>
                </a:solidFill>
                <a:latin typeface="Arial"/>
              </a:rPr>
              <a:t>Obrigado</a:t>
            </a:r>
            <a:endParaRPr/>
          </a:p>
        </p:txBody>
      </p:sp>
      <p:sp>
        <p:nvSpPr>
          <p:cNvPr id="156001795" name="TextBox 6"/>
          <p:cNvSpPr txBox="1"/>
          <p:nvPr/>
        </p:nvSpPr>
        <p:spPr bwMode="auto">
          <a:xfrm>
            <a:off x="777240" y="2743200"/>
            <a:ext cx="10607040" cy="7772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 algn="ctr">
              <a:defRPr/>
            </a:pPr>
            <a:r>
              <a:rPr sz="4400" b="1" i="0">
                <a:solidFill>
                  <a:srgbClr val="003769"/>
                </a:solidFill>
                <a:latin typeface="Arial"/>
              </a:rPr>
              <a:t>Perguntas?</a:t>
            </a:r>
            <a:endParaRPr/>
          </a:p>
        </p:txBody>
      </p:sp>
      <p:sp>
        <p:nvSpPr>
          <p:cNvPr id="1336715188" name="TextBox 7"/>
          <p:cNvSpPr txBox="1"/>
          <p:nvPr/>
        </p:nvSpPr>
        <p:spPr bwMode="auto">
          <a:xfrm>
            <a:off x="777240" y="3703320"/>
            <a:ext cx="1060704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norm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Defesa TG - ESC BLDC com ESP32</dc:title>
  <dc:subject>Trabalho de Graduação</dc:subject>
  <dc:creator>Enzo Luiz Fernandes</dc:creator>
  <cp:keywords>BLDC, ESC, ESP32, MCPWM, eletrônica de potência</cp:keywords>
  <dc:description/>
  <dc:language>pt-BR</dc:language>
  <cp:lastModifiedBy/>
  <cp:revision>44</cp:revision>
  <dcterms:created xsi:type="dcterms:W3CDTF">2025-10-10T17:47:55Z</dcterms:created>
  <dcterms:modified xsi:type="dcterms:W3CDTF">2026-07-06T11:48:23Z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49</vt:i4>
  </property>
</Properties>
</file>